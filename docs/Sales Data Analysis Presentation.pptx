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Montserrat Bold" panose="00000800000000000000" charset="0"/>
      <p:regular r:id="rId9"/>
    </p:embeddedFont>
    <p:embeddedFont>
      <p:font typeface="Open Sans" panose="020B0606030504020204" pitchFamily="34" charset="0"/>
      <p:regular r:id="rId10"/>
      <p:bold r:id="rId11"/>
    </p:embeddedFont>
    <p:embeddedFont>
      <p:font typeface="Open Sans Bold" panose="020B0806030504020204" charset="0"/>
      <p:regular r:id="rId12"/>
    </p:embeddedFont>
    <p:embeddedFont>
      <p:font typeface="Poppins Bold" panose="00000800000000000000"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940"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5.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11/7/2024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Layout" Target="../slideLayouts/slideLayout7.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17293116" y="565634"/>
            <a:ext cx="397367" cy="28996"/>
            <a:chOff x="0" y="0"/>
            <a:chExt cx="128243" cy="9358"/>
          </a:xfrm>
        </p:grpSpPr>
        <p:sp>
          <p:nvSpPr>
            <p:cNvPr id="4" name="Freeform 4"/>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solidFill>
              <a:srgbClr val="FF7300"/>
            </a:solidFill>
          </p:spPr>
        </p:sp>
        <p:sp>
          <p:nvSpPr>
            <p:cNvPr id="5" name="TextBox 5"/>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7293116" y="657737"/>
            <a:ext cx="397367" cy="28996"/>
            <a:chOff x="0" y="0"/>
            <a:chExt cx="128243" cy="9358"/>
          </a:xfrm>
        </p:grpSpPr>
        <p:sp>
          <p:nvSpPr>
            <p:cNvPr id="7" name="Freeform 7"/>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solidFill>
              <a:srgbClr val="FF7300"/>
            </a:solidFill>
          </p:spPr>
        </p:sp>
        <p:sp>
          <p:nvSpPr>
            <p:cNvPr id="8" name="TextBox 8"/>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673429" y="486649"/>
            <a:ext cx="274427" cy="260019"/>
          </a:xfrm>
          <a:custGeom>
            <a:avLst/>
            <a:gdLst/>
            <a:ahLst/>
            <a:cxnLst/>
            <a:rect l="l" t="t" r="r" b="b"/>
            <a:pathLst>
              <a:path w="274427" h="260019">
                <a:moveTo>
                  <a:pt x="0" y="0"/>
                </a:moveTo>
                <a:lnTo>
                  <a:pt x="274427" y="0"/>
                </a:lnTo>
                <a:lnTo>
                  <a:pt x="274427" y="260020"/>
                </a:lnTo>
                <a:lnTo>
                  <a:pt x="0" y="26002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0" name="Group 10"/>
          <p:cNvGrpSpPr/>
          <p:nvPr/>
        </p:nvGrpSpPr>
        <p:grpSpPr>
          <a:xfrm>
            <a:off x="18177932" y="8597752"/>
            <a:ext cx="110068" cy="660548"/>
            <a:chOff x="0" y="0"/>
            <a:chExt cx="28989" cy="173972"/>
          </a:xfrm>
        </p:grpSpPr>
        <p:sp>
          <p:nvSpPr>
            <p:cNvPr id="11" name="Freeform 11"/>
            <p:cNvSpPr/>
            <p:nvPr/>
          </p:nvSpPr>
          <p:spPr>
            <a:xfrm>
              <a:off x="0" y="0"/>
              <a:ext cx="28989" cy="173972"/>
            </a:xfrm>
            <a:custGeom>
              <a:avLst/>
              <a:gdLst/>
              <a:ahLst/>
              <a:cxnLst/>
              <a:rect l="l" t="t" r="r" b="b"/>
              <a:pathLst>
                <a:path w="28989" h="173972">
                  <a:moveTo>
                    <a:pt x="0" y="0"/>
                  </a:moveTo>
                  <a:lnTo>
                    <a:pt x="28989" y="0"/>
                  </a:lnTo>
                  <a:lnTo>
                    <a:pt x="28989" y="173972"/>
                  </a:lnTo>
                  <a:lnTo>
                    <a:pt x="0" y="173972"/>
                  </a:lnTo>
                  <a:close/>
                </a:path>
              </a:pathLst>
            </a:custGeom>
            <a:solidFill>
              <a:srgbClr val="FF7300"/>
            </a:solidFill>
          </p:spPr>
        </p:sp>
        <p:sp>
          <p:nvSpPr>
            <p:cNvPr id="12" name="TextBox 12"/>
            <p:cNvSpPr txBox="1"/>
            <p:nvPr/>
          </p:nvSpPr>
          <p:spPr>
            <a:xfrm>
              <a:off x="0" y="-38100"/>
              <a:ext cx="28989" cy="212072"/>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2491809" y="2749676"/>
            <a:ext cx="13304382" cy="4273297"/>
            <a:chOff x="0" y="0"/>
            <a:chExt cx="3504035" cy="1125477"/>
          </a:xfrm>
        </p:grpSpPr>
        <p:sp>
          <p:nvSpPr>
            <p:cNvPr id="14" name="Freeform 14"/>
            <p:cNvSpPr/>
            <p:nvPr/>
          </p:nvSpPr>
          <p:spPr>
            <a:xfrm>
              <a:off x="0" y="0"/>
              <a:ext cx="3504035" cy="1125477"/>
            </a:xfrm>
            <a:custGeom>
              <a:avLst/>
              <a:gdLst/>
              <a:ahLst/>
              <a:cxnLst/>
              <a:rect l="l" t="t" r="r" b="b"/>
              <a:pathLst>
                <a:path w="3504035" h="1125477">
                  <a:moveTo>
                    <a:pt x="0" y="0"/>
                  </a:moveTo>
                  <a:lnTo>
                    <a:pt x="3504035" y="0"/>
                  </a:lnTo>
                  <a:lnTo>
                    <a:pt x="3504035" y="1125477"/>
                  </a:lnTo>
                  <a:lnTo>
                    <a:pt x="0" y="1125477"/>
                  </a:lnTo>
                  <a:close/>
                </a:path>
              </a:pathLst>
            </a:custGeom>
            <a:solidFill>
              <a:srgbClr val="000000">
                <a:alpha val="0"/>
              </a:srgbClr>
            </a:solidFill>
            <a:ln w="38100" cap="sq">
              <a:solidFill>
                <a:srgbClr val="FF7300"/>
              </a:solidFill>
              <a:prstDash val="solid"/>
              <a:miter/>
            </a:ln>
          </p:spPr>
        </p:sp>
        <p:sp>
          <p:nvSpPr>
            <p:cNvPr id="15" name="TextBox 15"/>
            <p:cNvSpPr txBox="1"/>
            <p:nvPr/>
          </p:nvSpPr>
          <p:spPr>
            <a:xfrm>
              <a:off x="0" y="-38100"/>
              <a:ext cx="3504035" cy="1163577"/>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1039108" y="508149"/>
            <a:ext cx="1547756" cy="240665"/>
          </a:xfrm>
          <a:prstGeom prst="rect">
            <a:avLst/>
          </a:prstGeom>
        </p:spPr>
        <p:txBody>
          <a:bodyPr lIns="0" tIns="0" rIns="0" bIns="0" rtlCol="0" anchor="t">
            <a:spAutoFit/>
          </a:bodyPr>
          <a:lstStyle/>
          <a:p>
            <a:pPr algn="l">
              <a:lnSpc>
                <a:spcPts val="1960"/>
              </a:lnSpc>
              <a:spcBef>
                <a:spcPct val="0"/>
              </a:spcBef>
            </a:pPr>
            <a:r>
              <a:rPr lang="en-US" sz="1400">
                <a:solidFill>
                  <a:srgbClr val="FFFFFF"/>
                </a:solidFill>
                <a:latin typeface="Open Sans"/>
                <a:ea typeface="Open Sans"/>
                <a:cs typeface="Open Sans"/>
                <a:sym typeface="Open Sans"/>
              </a:rPr>
              <a:t>Group B</a:t>
            </a:r>
          </a:p>
        </p:txBody>
      </p:sp>
      <p:sp>
        <p:nvSpPr>
          <p:cNvPr id="17" name="TextBox 17"/>
          <p:cNvSpPr txBox="1"/>
          <p:nvPr/>
        </p:nvSpPr>
        <p:spPr>
          <a:xfrm>
            <a:off x="15940842" y="517674"/>
            <a:ext cx="978460"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id="18" name="TextBox 18"/>
          <p:cNvSpPr txBox="1"/>
          <p:nvPr/>
        </p:nvSpPr>
        <p:spPr>
          <a:xfrm>
            <a:off x="14385046" y="517674"/>
            <a:ext cx="1060497"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9" name="TextBox 19"/>
          <p:cNvSpPr txBox="1"/>
          <p:nvPr/>
        </p:nvSpPr>
        <p:spPr>
          <a:xfrm>
            <a:off x="13154289" y="517674"/>
            <a:ext cx="735456"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Photo</a:t>
            </a:r>
          </a:p>
        </p:txBody>
      </p:sp>
      <p:sp>
        <p:nvSpPr>
          <p:cNvPr id="20" name="TextBox 20"/>
          <p:cNvSpPr txBox="1"/>
          <p:nvPr/>
        </p:nvSpPr>
        <p:spPr>
          <a:xfrm>
            <a:off x="11898530" y="517674"/>
            <a:ext cx="809760"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id="21" name="TextBox 21"/>
          <p:cNvSpPr txBox="1"/>
          <p:nvPr/>
        </p:nvSpPr>
        <p:spPr>
          <a:xfrm>
            <a:off x="2491809" y="3486147"/>
            <a:ext cx="12797819" cy="2066928"/>
          </a:xfrm>
          <a:prstGeom prst="rect">
            <a:avLst/>
          </a:prstGeom>
        </p:spPr>
        <p:txBody>
          <a:bodyPr lIns="0" tIns="0" rIns="0" bIns="0" rtlCol="0" anchor="t">
            <a:spAutoFit/>
          </a:bodyPr>
          <a:lstStyle/>
          <a:p>
            <a:pPr algn="ctr">
              <a:lnSpc>
                <a:spcPts val="8399"/>
              </a:lnSpc>
            </a:pPr>
            <a:r>
              <a:rPr lang="en-US" sz="5999" b="1">
                <a:solidFill>
                  <a:srgbClr val="FFFFFF"/>
                </a:solidFill>
                <a:latin typeface="Montserrat Bold"/>
                <a:ea typeface="Montserrat Bold"/>
                <a:cs typeface="Montserrat Bold"/>
                <a:sym typeface="Montserrat Bold"/>
              </a:rPr>
              <a:t>SALES DATA</a:t>
            </a:r>
          </a:p>
          <a:p>
            <a:pPr algn="ctr">
              <a:lnSpc>
                <a:spcPts val="8399"/>
              </a:lnSpc>
              <a:spcBef>
                <a:spcPct val="0"/>
              </a:spcBef>
            </a:pPr>
            <a:r>
              <a:rPr lang="en-US" sz="5999" b="1">
                <a:solidFill>
                  <a:srgbClr val="FFFFFF"/>
                </a:solidFill>
                <a:latin typeface="Montserrat Bold"/>
                <a:ea typeface="Montserrat Bold"/>
                <a:cs typeface="Montserrat Bold"/>
                <a:sym typeface="Montserrat Bold"/>
              </a:rPr>
              <a:t>ANALYSIS &amp; INTERPRETATION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028700"/>
            <a:ext cx="16230600" cy="4114800"/>
            <a:chOff x="0" y="0"/>
            <a:chExt cx="21640800" cy="5486400"/>
          </a:xfrm>
        </p:grpSpPr>
        <p:pic>
          <p:nvPicPr>
            <p:cNvPr id="3" name="Picture 3"/>
            <p:cNvPicPr>
              <a:picLocks noChangeAspect="1"/>
            </p:cNvPicPr>
            <p:nvPr/>
          </p:nvPicPr>
          <p:blipFill>
            <a:blip r:embed="rId2"/>
            <a:srcRect t="39025" b="22707"/>
            <a:stretch>
              <a:fillRect/>
            </a:stretch>
          </p:blipFill>
          <p:spPr>
            <a:xfrm>
              <a:off x="0" y="0"/>
              <a:ext cx="21640800" cy="5486400"/>
            </a:xfrm>
            <a:prstGeom prst="rect">
              <a:avLst/>
            </a:prstGeom>
          </p:spPr>
        </p:pic>
      </p:grpSp>
      <p:grpSp>
        <p:nvGrpSpPr>
          <p:cNvPr id="4" name="Group 4"/>
          <p:cNvGrpSpPr/>
          <p:nvPr/>
        </p:nvGrpSpPr>
        <p:grpSpPr>
          <a:xfrm>
            <a:off x="17293116" y="565634"/>
            <a:ext cx="397367" cy="28996"/>
            <a:chOff x="0" y="0"/>
            <a:chExt cx="128243" cy="9358"/>
          </a:xfrm>
        </p:grpSpPr>
        <p:sp>
          <p:nvSpPr>
            <p:cNvPr id="5" name="Freeform 5"/>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solidFill>
              <a:srgbClr val="FF7300"/>
            </a:solidFill>
          </p:spPr>
        </p:sp>
        <p:sp>
          <p:nvSpPr>
            <p:cNvPr id="6" name="TextBox 6"/>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17293116" y="657737"/>
            <a:ext cx="397367" cy="28996"/>
            <a:chOff x="0" y="0"/>
            <a:chExt cx="128243" cy="9358"/>
          </a:xfrm>
        </p:grpSpPr>
        <p:sp>
          <p:nvSpPr>
            <p:cNvPr id="8" name="Freeform 8"/>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solidFill>
              <a:srgbClr val="FF7300"/>
            </a:solidFill>
          </p:spPr>
        </p:sp>
        <p:sp>
          <p:nvSpPr>
            <p:cNvPr id="9" name="TextBox 9"/>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673429" y="486649"/>
            <a:ext cx="274427" cy="260019"/>
          </a:xfrm>
          <a:custGeom>
            <a:avLst/>
            <a:gdLst/>
            <a:ahLst/>
            <a:cxnLst/>
            <a:rect l="l" t="t" r="r" b="b"/>
            <a:pathLst>
              <a:path w="274427" h="260019">
                <a:moveTo>
                  <a:pt x="0" y="0"/>
                </a:moveTo>
                <a:lnTo>
                  <a:pt x="274427" y="0"/>
                </a:lnTo>
                <a:lnTo>
                  <a:pt x="274427" y="260020"/>
                </a:lnTo>
                <a:lnTo>
                  <a:pt x="0" y="26002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1" name="Group 11"/>
          <p:cNvGrpSpPr/>
          <p:nvPr/>
        </p:nvGrpSpPr>
        <p:grpSpPr>
          <a:xfrm>
            <a:off x="18177932" y="8597752"/>
            <a:ext cx="110068" cy="660548"/>
            <a:chOff x="0" y="0"/>
            <a:chExt cx="28989" cy="173972"/>
          </a:xfrm>
        </p:grpSpPr>
        <p:sp>
          <p:nvSpPr>
            <p:cNvPr id="12" name="Freeform 12"/>
            <p:cNvSpPr/>
            <p:nvPr/>
          </p:nvSpPr>
          <p:spPr>
            <a:xfrm>
              <a:off x="0" y="0"/>
              <a:ext cx="28989" cy="173972"/>
            </a:xfrm>
            <a:custGeom>
              <a:avLst/>
              <a:gdLst/>
              <a:ahLst/>
              <a:cxnLst/>
              <a:rect l="l" t="t" r="r" b="b"/>
              <a:pathLst>
                <a:path w="28989" h="173972">
                  <a:moveTo>
                    <a:pt x="0" y="0"/>
                  </a:moveTo>
                  <a:lnTo>
                    <a:pt x="28989" y="0"/>
                  </a:lnTo>
                  <a:lnTo>
                    <a:pt x="28989" y="173972"/>
                  </a:lnTo>
                  <a:lnTo>
                    <a:pt x="0" y="173972"/>
                  </a:lnTo>
                  <a:close/>
                </a:path>
              </a:pathLst>
            </a:custGeom>
            <a:solidFill>
              <a:srgbClr val="FF7300"/>
            </a:solidFill>
          </p:spPr>
        </p:sp>
        <p:sp>
          <p:nvSpPr>
            <p:cNvPr id="13" name="TextBox 13"/>
            <p:cNvSpPr txBox="1"/>
            <p:nvPr/>
          </p:nvSpPr>
          <p:spPr>
            <a:xfrm>
              <a:off x="0" y="-38100"/>
              <a:ext cx="28989" cy="212072"/>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039108" y="508149"/>
            <a:ext cx="1547756" cy="240665"/>
          </a:xfrm>
          <a:prstGeom prst="rect">
            <a:avLst/>
          </a:prstGeom>
        </p:spPr>
        <p:txBody>
          <a:bodyPr lIns="0" tIns="0" rIns="0" bIns="0" rtlCol="0" anchor="t">
            <a:spAutoFit/>
          </a:bodyPr>
          <a:lstStyle/>
          <a:p>
            <a:pPr algn="l">
              <a:lnSpc>
                <a:spcPts val="1960"/>
              </a:lnSpc>
              <a:spcBef>
                <a:spcPct val="0"/>
              </a:spcBef>
            </a:pPr>
            <a:r>
              <a:rPr lang="en-US" sz="1400">
                <a:solidFill>
                  <a:srgbClr val="1F2020"/>
                </a:solidFill>
                <a:latin typeface="Open Sans"/>
                <a:ea typeface="Open Sans"/>
                <a:cs typeface="Open Sans"/>
                <a:sym typeface="Open Sans"/>
              </a:rPr>
              <a:t>Group B</a:t>
            </a:r>
          </a:p>
        </p:txBody>
      </p:sp>
      <p:sp>
        <p:nvSpPr>
          <p:cNvPr id="15" name="TextBox 15"/>
          <p:cNvSpPr txBox="1"/>
          <p:nvPr/>
        </p:nvSpPr>
        <p:spPr>
          <a:xfrm>
            <a:off x="15940842" y="517674"/>
            <a:ext cx="978460" cy="197971"/>
          </a:xfrm>
          <a:prstGeom prst="rect">
            <a:avLst/>
          </a:prstGeom>
        </p:spPr>
        <p:txBody>
          <a:bodyPr lIns="0" tIns="0" rIns="0" bIns="0" rtlCol="0" anchor="t">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id="16" name="TextBox 16"/>
          <p:cNvSpPr txBox="1"/>
          <p:nvPr/>
        </p:nvSpPr>
        <p:spPr>
          <a:xfrm>
            <a:off x="14385046" y="517674"/>
            <a:ext cx="1060497" cy="197971"/>
          </a:xfrm>
          <a:prstGeom prst="rect">
            <a:avLst/>
          </a:prstGeom>
        </p:spPr>
        <p:txBody>
          <a:bodyPr lIns="0" tIns="0" rIns="0" bIns="0" rtlCol="0" anchor="t">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id="17" name="TextBox 17"/>
          <p:cNvSpPr txBox="1"/>
          <p:nvPr/>
        </p:nvSpPr>
        <p:spPr>
          <a:xfrm>
            <a:off x="13154289" y="517674"/>
            <a:ext cx="735456" cy="197971"/>
          </a:xfrm>
          <a:prstGeom prst="rect">
            <a:avLst/>
          </a:prstGeom>
        </p:spPr>
        <p:txBody>
          <a:bodyPr lIns="0" tIns="0" rIns="0" bIns="0" rtlCol="0" anchor="t">
            <a:spAutoFit/>
          </a:bodyPr>
          <a:lstStyle/>
          <a:p>
            <a:pPr algn="l">
              <a:lnSpc>
                <a:spcPts val="1680"/>
              </a:lnSpc>
              <a:spcBef>
                <a:spcPct val="0"/>
              </a:spcBef>
            </a:pPr>
            <a:r>
              <a:rPr lang="en-US" sz="1200">
                <a:solidFill>
                  <a:srgbClr val="1F2020"/>
                </a:solidFill>
                <a:latin typeface="Open Sans"/>
                <a:ea typeface="Open Sans"/>
                <a:cs typeface="Open Sans"/>
                <a:sym typeface="Open Sans"/>
              </a:rPr>
              <a:t>Photo</a:t>
            </a:r>
          </a:p>
        </p:txBody>
      </p:sp>
      <p:sp>
        <p:nvSpPr>
          <p:cNvPr id="18" name="TextBox 18"/>
          <p:cNvSpPr txBox="1"/>
          <p:nvPr/>
        </p:nvSpPr>
        <p:spPr>
          <a:xfrm>
            <a:off x="11898530" y="517674"/>
            <a:ext cx="809760" cy="197971"/>
          </a:xfrm>
          <a:prstGeom prst="rect">
            <a:avLst/>
          </a:prstGeom>
        </p:spPr>
        <p:txBody>
          <a:bodyPr lIns="0" tIns="0" rIns="0" bIns="0" rtlCol="0" anchor="t">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sp>
        <p:nvSpPr>
          <p:cNvPr id="22" name="TextBox 22"/>
          <p:cNvSpPr txBox="1"/>
          <p:nvPr/>
        </p:nvSpPr>
        <p:spPr>
          <a:xfrm>
            <a:off x="1077208" y="5443314"/>
            <a:ext cx="3142254" cy="731752"/>
          </a:xfrm>
          <a:prstGeom prst="rect">
            <a:avLst/>
          </a:prstGeom>
        </p:spPr>
        <p:txBody>
          <a:bodyPr lIns="0" tIns="0" rIns="0" bIns="0" rtlCol="0" anchor="t">
            <a:spAutoFit/>
          </a:bodyPr>
          <a:lstStyle/>
          <a:p>
            <a:pPr algn="l">
              <a:lnSpc>
                <a:spcPts val="5336"/>
              </a:lnSpc>
            </a:pPr>
            <a:r>
              <a:rPr lang="en-US" sz="4560" b="1" dirty="0">
                <a:solidFill>
                  <a:srgbClr val="1F2020"/>
                </a:solidFill>
                <a:latin typeface="Poppins Bold"/>
                <a:ea typeface="Poppins Bold"/>
                <a:cs typeface="Poppins Bold"/>
                <a:sym typeface="Poppins Bold"/>
              </a:rPr>
              <a:t>Group B</a:t>
            </a:r>
          </a:p>
        </p:txBody>
      </p:sp>
      <p:sp>
        <p:nvSpPr>
          <p:cNvPr id="23" name="TextBox 23"/>
          <p:cNvSpPr txBox="1"/>
          <p:nvPr/>
        </p:nvSpPr>
        <p:spPr>
          <a:xfrm>
            <a:off x="1260345" y="6286119"/>
            <a:ext cx="4437683" cy="2072641"/>
          </a:xfrm>
          <a:prstGeom prst="rect">
            <a:avLst/>
          </a:prstGeom>
        </p:spPr>
        <p:txBody>
          <a:bodyPr lIns="0" tIns="0" rIns="0" bIns="0" rtlCol="0" anchor="t">
            <a:spAutoFit/>
          </a:bodyPr>
          <a:lstStyle/>
          <a:p>
            <a:pPr algn="l">
              <a:lnSpc>
                <a:spcPts val="3359"/>
              </a:lnSpc>
            </a:pPr>
            <a:r>
              <a:rPr lang="en-US" sz="2399" dirty="0">
                <a:solidFill>
                  <a:srgbClr val="1F2020"/>
                </a:solidFill>
                <a:latin typeface="Open Sans"/>
                <a:ea typeface="Open Sans"/>
                <a:cs typeface="Open Sans"/>
                <a:sym typeface="Open Sans"/>
              </a:rPr>
              <a:t>Adhish Rajendran Pillai</a:t>
            </a:r>
          </a:p>
          <a:p>
            <a:pPr algn="l">
              <a:lnSpc>
                <a:spcPts val="3359"/>
              </a:lnSpc>
            </a:pPr>
            <a:r>
              <a:rPr lang="en-US" sz="2399" dirty="0">
                <a:solidFill>
                  <a:srgbClr val="1F2020"/>
                </a:solidFill>
                <a:latin typeface="Open Sans"/>
                <a:ea typeface="Open Sans"/>
                <a:cs typeface="Open Sans"/>
                <a:sym typeface="Open Sans"/>
              </a:rPr>
              <a:t>Ashwin Muthusamy</a:t>
            </a:r>
          </a:p>
          <a:p>
            <a:pPr algn="l">
              <a:lnSpc>
                <a:spcPts val="3359"/>
              </a:lnSpc>
            </a:pPr>
            <a:r>
              <a:rPr lang="en-US" sz="2399" dirty="0">
                <a:solidFill>
                  <a:srgbClr val="1F2020"/>
                </a:solidFill>
                <a:latin typeface="Open Sans"/>
                <a:ea typeface="Open Sans"/>
                <a:cs typeface="Open Sans"/>
                <a:sym typeface="Open Sans"/>
              </a:rPr>
              <a:t>Ganga Hariharan</a:t>
            </a:r>
          </a:p>
          <a:p>
            <a:pPr algn="l">
              <a:lnSpc>
                <a:spcPts val="3359"/>
              </a:lnSpc>
            </a:pPr>
            <a:r>
              <a:rPr lang="en-US" sz="2399" dirty="0">
                <a:solidFill>
                  <a:srgbClr val="1F2020"/>
                </a:solidFill>
                <a:latin typeface="Open Sans"/>
                <a:ea typeface="Open Sans"/>
                <a:cs typeface="Open Sans"/>
                <a:sym typeface="Open Sans"/>
              </a:rPr>
              <a:t>Omkar </a:t>
            </a:r>
            <a:r>
              <a:rPr lang="en-US" sz="2399" dirty="0" err="1">
                <a:solidFill>
                  <a:srgbClr val="1F2020"/>
                </a:solidFill>
                <a:latin typeface="Open Sans"/>
                <a:ea typeface="Open Sans"/>
                <a:cs typeface="Open Sans"/>
                <a:sym typeface="Open Sans"/>
              </a:rPr>
              <a:t>Krishnapurkar</a:t>
            </a:r>
            <a:endParaRPr lang="en-US" sz="2399" dirty="0">
              <a:solidFill>
                <a:srgbClr val="1F2020"/>
              </a:solidFill>
              <a:latin typeface="Open Sans"/>
              <a:ea typeface="Open Sans"/>
              <a:cs typeface="Open Sans"/>
              <a:sym typeface="Open Sans"/>
            </a:endParaRPr>
          </a:p>
          <a:p>
            <a:pPr algn="l">
              <a:lnSpc>
                <a:spcPts val="3359"/>
              </a:lnSpc>
              <a:spcBef>
                <a:spcPct val="0"/>
              </a:spcBef>
            </a:pPr>
            <a:r>
              <a:rPr lang="en-US" sz="2399" dirty="0" err="1">
                <a:solidFill>
                  <a:srgbClr val="1F2020"/>
                </a:solidFill>
                <a:latin typeface="Open Sans"/>
                <a:ea typeface="Open Sans"/>
                <a:cs typeface="Open Sans"/>
                <a:sym typeface="Open Sans"/>
              </a:rPr>
              <a:t>Yashwanth</a:t>
            </a:r>
            <a:r>
              <a:rPr lang="en-US" sz="2399" dirty="0">
                <a:solidFill>
                  <a:srgbClr val="1F2020"/>
                </a:solidFill>
                <a:latin typeface="Open Sans"/>
                <a:ea typeface="Open Sans"/>
                <a:cs typeface="Open Sans"/>
                <a:sym typeface="Open Sans"/>
              </a:rPr>
              <a:t> </a:t>
            </a:r>
            <a:r>
              <a:rPr lang="en-US" sz="2399" dirty="0" err="1">
                <a:solidFill>
                  <a:srgbClr val="1F2020"/>
                </a:solidFill>
                <a:latin typeface="Open Sans"/>
                <a:ea typeface="Open Sans"/>
                <a:cs typeface="Open Sans"/>
                <a:sym typeface="Open Sans"/>
              </a:rPr>
              <a:t>Duddupuddi</a:t>
            </a:r>
            <a:endParaRPr lang="en-US" sz="2399" dirty="0">
              <a:solidFill>
                <a:srgbClr val="1F2020"/>
              </a:solidFill>
              <a:latin typeface="Open Sans"/>
              <a:ea typeface="Open Sans"/>
              <a:cs typeface="Open Sans"/>
              <a:sym typeface="Open Sans"/>
            </a:endParaRPr>
          </a:p>
        </p:txBody>
      </p:sp>
      <p:sp>
        <p:nvSpPr>
          <p:cNvPr id="24" name="TextBox 24"/>
          <p:cNvSpPr txBox="1"/>
          <p:nvPr/>
        </p:nvSpPr>
        <p:spPr>
          <a:xfrm>
            <a:off x="4910137" y="6662093"/>
            <a:ext cx="2378606" cy="389256"/>
          </a:xfrm>
          <a:prstGeom prst="rect">
            <a:avLst/>
          </a:prstGeom>
        </p:spPr>
        <p:txBody>
          <a:bodyPr lIns="0" tIns="0" rIns="0" bIns="0" rtlCol="0" anchor="t">
            <a:spAutoFit/>
          </a:bodyPr>
          <a:lstStyle/>
          <a:p>
            <a:pPr algn="l">
              <a:lnSpc>
                <a:spcPts val="3219"/>
              </a:lnSpc>
              <a:spcBef>
                <a:spcPct val="0"/>
              </a:spcBef>
            </a:pPr>
            <a:r>
              <a:rPr lang="en-US" sz="2299" b="1">
                <a:solidFill>
                  <a:srgbClr val="FF7300"/>
                </a:solidFill>
                <a:latin typeface="Open Sans Bold"/>
                <a:ea typeface="Open Sans Bold"/>
                <a:cs typeface="Open Sans Bold"/>
                <a:sym typeface="Open Sans Bold"/>
              </a:rPr>
              <a:t>About Project</a:t>
            </a:r>
          </a:p>
        </p:txBody>
      </p:sp>
      <p:sp>
        <p:nvSpPr>
          <p:cNvPr id="25" name="TextBox 25"/>
          <p:cNvSpPr txBox="1"/>
          <p:nvPr/>
        </p:nvSpPr>
        <p:spPr>
          <a:xfrm>
            <a:off x="5208798" y="7103682"/>
            <a:ext cx="11221275" cy="1921510"/>
          </a:xfrm>
          <a:prstGeom prst="rect">
            <a:avLst/>
          </a:prstGeom>
        </p:spPr>
        <p:txBody>
          <a:bodyPr lIns="0" tIns="0" rIns="0" bIns="0" rtlCol="0" anchor="t">
            <a:spAutoFit/>
          </a:bodyPr>
          <a:lstStyle/>
          <a:p>
            <a:pPr algn="l">
              <a:lnSpc>
                <a:spcPts val="2239"/>
              </a:lnSpc>
            </a:pPr>
            <a:r>
              <a:rPr lang="en-US" sz="1599" dirty="0">
                <a:solidFill>
                  <a:srgbClr val="000000"/>
                </a:solidFill>
                <a:latin typeface="Open Sans"/>
                <a:ea typeface="Open Sans"/>
                <a:cs typeface="Open Sans"/>
                <a:sym typeface="Open Sans"/>
              </a:rPr>
              <a:t>Our analysis aims to enhance data quality in a comprehensive sales dataset containing 9,998 entries from a US-based business. This dataset includes critical factors like order and shipping dates, client segments, geographic locations, and sales figures. Firstly we’ve addressed the missing values and discrepancies to ensure data accuracy and reliability.</a:t>
            </a:r>
          </a:p>
          <a:p>
            <a:pPr algn="l">
              <a:lnSpc>
                <a:spcPts val="2239"/>
              </a:lnSpc>
            </a:pPr>
            <a:r>
              <a:rPr lang="en-US" sz="1599" dirty="0">
                <a:solidFill>
                  <a:srgbClr val="000000"/>
                </a:solidFill>
                <a:latin typeface="Open Sans"/>
                <a:ea typeface="Open Sans"/>
                <a:cs typeface="Open Sans"/>
                <a:sym typeface="Open Sans"/>
              </a:rPr>
              <a:t>Next, we've created visualizations highlighting sales trends over time, profitability by client categories, and performance by geographic region. These insights will empower the business to optimize sales strategies and drive better overall performance, aligning with their strategic objectives.</a:t>
            </a:r>
          </a:p>
          <a:p>
            <a:pPr algn="l">
              <a:lnSpc>
                <a:spcPts val="2239"/>
              </a:lnSpc>
              <a:spcBef>
                <a:spcPct val="0"/>
              </a:spcBef>
            </a:pPr>
            <a:endParaRPr lang="en-US" sz="1599" dirty="0">
              <a:solidFill>
                <a:srgbClr val="000000"/>
              </a:solidFill>
              <a:latin typeface="Open Sans"/>
              <a:ea typeface="Open Sans"/>
              <a:cs typeface="Open Sans"/>
              <a:sym typeface="Open Sans"/>
            </a:endParaRPr>
          </a:p>
        </p:txBody>
      </p:sp>
      <p:grpSp>
        <p:nvGrpSpPr>
          <p:cNvPr id="35" name="Group 25">
            <a:extLst>
              <a:ext uri="{FF2B5EF4-FFF2-40B4-BE49-F238E27FC236}">
                <a16:creationId xmlns:a16="http://schemas.microsoft.com/office/drawing/2014/main" id="{4E78A5B6-F9BB-7D39-4C47-C835F3E21AEB}"/>
              </a:ext>
            </a:extLst>
          </p:cNvPr>
          <p:cNvGrpSpPr/>
          <p:nvPr/>
        </p:nvGrpSpPr>
        <p:grpSpPr>
          <a:xfrm>
            <a:off x="1077208" y="6052153"/>
            <a:ext cx="1042538" cy="47625"/>
            <a:chOff x="0" y="0"/>
            <a:chExt cx="274578" cy="12543"/>
          </a:xfrm>
        </p:grpSpPr>
        <p:sp>
          <p:nvSpPr>
            <p:cNvPr id="36" name="Freeform 26">
              <a:extLst>
                <a:ext uri="{FF2B5EF4-FFF2-40B4-BE49-F238E27FC236}">
                  <a16:creationId xmlns:a16="http://schemas.microsoft.com/office/drawing/2014/main" id="{B1FD6825-677E-84A5-8ADA-96FE662B525B}"/>
                </a:ext>
              </a:extLst>
            </p:cNvPr>
            <p:cNvSpPr/>
            <p:nvPr/>
          </p:nvSpPr>
          <p:spPr>
            <a:xfrm>
              <a:off x="0" y="0"/>
              <a:ext cx="274578" cy="12543"/>
            </a:xfrm>
            <a:custGeom>
              <a:avLst/>
              <a:gdLst/>
              <a:ahLst/>
              <a:cxnLst/>
              <a:rect l="l" t="t" r="r" b="b"/>
              <a:pathLst>
                <a:path w="274578" h="12543">
                  <a:moveTo>
                    <a:pt x="6272" y="0"/>
                  </a:moveTo>
                  <a:lnTo>
                    <a:pt x="268306" y="0"/>
                  </a:lnTo>
                  <a:cubicBezTo>
                    <a:pt x="269970" y="0"/>
                    <a:pt x="271565" y="661"/>
                    <a:pt x="272741" y="1837"/>
                  </a:cubicBezTo>
                  <a:cubicBezTo>
                    <a:pt x="273917" y="3013"/>
                    <a:pt x="274578" y="4608"/>
                    <a:pt x="274578" y="6272"/>
                  </a:cubicBezTo>
                  <a:lnTo>
                    <a:pt x="274578" y="6272"/>
                  </a:lnTo>
                  <a:cubicBezTo>
                    <a:pt x="274578" y="7935"/>
                    <a:pt x="273917" y="9530"/>
                    <a:pt x="272741" y="10706"/>
                  </a:cubicBezTo>
                  <a:cubicBezTo>
                    <a:pt x="271565" y="11882"/>
                    <a:pt x="269970" y="12543"/>
                    <a:pt x="268306"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FF7300"/>
            </a:solidFill>
          </p:spPr>
        </p:sp>
        <p:sp>
          <p:nvSpPr>
            <p:cNvPr id="37" name="TextBox 27">
              <a:extLst>
                <a:ext uri="{FF2B5EF4-FFF2-40B4-BE49-F238E27FC236}">
                  <a16:creationId xmlns:a16="http://schemas.microsoft.com/office/drawing/2014/main" id="{2F19B7A3-A127-E25B-387B-7B28A60586D2}"/>
                </a:ext>
              </a:extLst>
            </p:cNvPr>
            <p:cNvSpPr txBox="1"/>
            <p:nvPr/>
          </p:nvSpPr>
          <p:spPr>
            <a:xfrm>
              <a:off x="0" y="-38100"/>
              <a:ext cx="274578" cy="50643"/>
            </a:xfrm>
            <a:prstGeom prst="rect">
              <a:avLst/>
            </a:prstGeom>
          </p:spPr>
          <p:txBody>
            <a:bodyPr lIns="50800" tIns="50800" rIns="50800" bIns="50800" rtlCol="0" anchor="ctr"/>
            <a:lstStyle/>
            <a:p>
              <a:pPr algn="ctr">
                <a:lnSpc>
                  <a:spcPts val="2659"/>
                </a:lnSpc>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93116" y="565634"/>
            <a:ext cx="397367" cy="28996"/>
            <a:chOff x="0" y="0"/>
            <a:chExt cx="128243" cy="9358"/>
          </a:xfrm>
        </p:grpSpPr>
        <p:sp>
          <p:nvSpPr>
            <p:cNvPr id="3" name="Freeform 3"/>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solidFill>
              <a:srgbClr val="FF7300"/>
            </a:solidFill>
          </p:spPr>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93116" y="657737"/>
            <a:ext cx="397367" cy="28996"/>
            <a:chOff x="0" y="0"/>
            <a:chExt cx="128243" cy="9358"/>
          </a:xfrm>
        </p:grpSpPr>
        <p:sp>
          <p:nvSpPr>
            <p:cNvPr id="6" name="Freeform 6"/>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solidFill>
              <a:srgbClr val="FF7300"/>
            </a:solidFill>
          </p:spPr>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673429" y="486649"/>
            <a:ext cx="274427" cy="260019"/>
          </a:xfrm>
          <a:custGeom>
            <a:avLst/>
            <a:gdLst/>
            <a:ahLst/>
            <a:cxnLst/>
            <a:rect l="l" t="t" r="r" b="b"/>
            <a:pathLst>
              <a:path w="274427" h="260019">
                <a:moveTo>
                  <a:pt x="0" y="0"/>
                </a:moveTo>
                <a:lnTo>
                  <a:pt x="274427" y="0"/>
                </a:lnTo>
                <a:lnTo>
                  <a:pt x="274427" y="260020"/>
                </a:lnTo>
                <a:lnTo>
                  <a:pt x="0" y="2600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18177932" y="8597752"/>
            <a:ext cx="110068" cy="660548"/>
            <a:chOff x="0" y="0"/>
            <a:chExt cx="28989" cy="173972"/>
          </a:xfrm>
        </p:grpSpPr>
        <p:sp>
          <p:nvSpPr>
            <p:cNvPr id="10" name="Freeform 10"/>
            <p:cNvSpPr/>
            <p:nvPr/>
          </p:nvSpPr>
          <p:spPr>
            <a:xfrm>
              <a:off x="0" y="0"/>
              <a:ext cx="28989" cy="173972"/>
            </a:xfrm>
            <a:custGeom>
              <a:avLst/>
              <a:gdLst/>
              <a:ahLst/>
              <a:cxnLst/>
              <a:rect l="l" t="t" r="r" b="b"/>
              <a:pathLst>
                <a:path w="28989" h="173972">
                  <a:moveTo>
                    <a:pt x="0" y="0"/>
                  </a:moveTo>
                  <a:lnTo>
                    <a:pt x="28989" y="0"/>
                  </a:lnTo>
                  <a:lnTo>
                    <a:pt x="28989" y="173972"/>
                  </a:lnTo>
                  <a:lnTo>
                    <a:pt x="0" y="173972"/>
                  </a:lnTo>
                  <a:close/>
                </a:path>
              </a:pathLst>
            </a:custGeom>
            <a:solidFill>
              <a:srgbClr val="FF7300"/>
            </a:solidFill>
          </p:spPr>
        </p:sp>
        <p:sp>
          <p:nvSpPr>
            <p:cNvPr id="11" name="TextBox 11"/>
            <p:cNvSpPr txBox="1"/>
            <p:nvPr/>
          </p:nvSpPr>
          <p:spPr>
            <a:xfrm>
              <a:off x="0" y="-38100"/>
              <a:ext cx="28989" cy="212072"/>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039108" y="508149"/>
            <a:ext cx="1547756" cy="240665"/>
          </a:xfrm>
          <a:prstGeom prst="rect">
            <a:avLst/>
          </a:prstGeom>
        </p:spPr>
        <p:txBody>
          <a:bodyPr lIns="0" tIns="0" rIns="0" bIns="0" rtlCol="0" anchor="t">
            <a:spAutoFit/>
          </a:bodyPr>
          <a:lstStyle/>
          <a:p>
            <a:pPr algn="l">
              <a:lnSpc>
                <a:spcPts val="1960"/>
              </a:lnSpc>
              <a:spcBef>
                <a:spcPct val="0"/>
              </a:spcBef>
            </a:pPr>
            <a:r>
              <a:rPr lang="en-US" sz="1400">
                <a:solidFill>
                  <a:srgbClr val="1F2020"/>
                </a:solidFill>
                <a:latin typeface="Open Sans"/>
                <a:ea typeface="Open Sans"/>
                <a:cs typeface="Open Sans"/>
                <a:sym typeface="Open Sans"/>
              </a:rPr>
              <a:t>Group B</a:t>
            </a:r>
          </a:p>
        </p:txBody>
      </p:sp>
      <p:sp>
        <p:nvSpPr>
          <p:cNvPr id="13" name="TextBox 13"/>
          <p:cNvSpPr txBox="1"/>
          <p:nvPr/>
        </p:nvSpPr>
        <p:spPr>
          <a:xfrm>
            <a:off x="15940842" y="517674"/>
            <a:ext cx="978460" cy="197971"/>
          </a:xfrm>
          <a:prstGeom prst="rect">
            <a:avLst/>
          </a:prstGeom>
        </p:spPr>
        <p:txBody>
          <a:bodyPr lIns="0" tIns="0" rIns="0" bIns="0" rtlCol="0" anchor="t">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id="14" name="TextBox 14"/>
          <p:cNvSpPr txBox="1"/>
          <p:nvPr/>
        </p:nvSpPr>
        <p:spPr>
          <a:xfrm>
            <a:off x="14385046" y="517674"/>
            <a:ext cx="1060497" cy="197971"/>
          </a:xfrm>
          <a:prstGeom prst="rect">
            <a:avLst/>
          </a:prstGeom>
        </p:spPr>
        <p:txBody>
          <a:bodyPr lIns="0" tIns="0" rIns="0" bIns="0" rtlCol="0" anchor="t">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id="15" name="TextBox 15"/>
          <p:cNvSpPr txBox="1"/>
          <p:nvPr/>
        </p:nvSpPr>
        <p:spPr>
          <a:xfrm>
            <a:off x="13154289" y="517674"/>
            <a:ext cx="735456" cy="197971"/>
          </a:xfrm>
          <a:prstGeom prst="rect">
            <a:avLst/>
          </a:prstGeom>
        </p:spPr>
        <p:txBody>
          <a:bodyPr lIns="0" tIns="0" rIns="0" bIns="0" rtlCol="0" anchor="t">
            <a:spAutoFit/>
          </a:bodyPr>
          <a:lstStyle/>
          <a:p>
            <a:pPr algn="l">
              <a:lnSpc>
                <a:spcPts val="1680"/>
              </a:lnSpc>
              <a:spcBef>
                <a:spcPct val="0"/>
              </a:spcBef>
            </a:pPr>
            <a:r>
              <a:rPr lang="en-US" sz="1200">
                <a:solidFill>
                  <a:srgbClr val="1F2020"/>
                </a:solidFill>
                <a:latin typeface="Open Sans"/>
                <a:ea typeface="Open Sans"/>
                <a:cs typeface="Open Sans"/>
                <a:sym typeface="Open Sans"/>
              </a:rPr>
              <a:t>Photo</a:t>
            </a:r>
          </a:p>
        </p:txBody>
      </p:sp>
      <p:sp>
        <p:nvSpPr>
          <p:cNvPr id="16" name="TextBox 16"/>
          <p:cNvSpPr txBox="1"/>
          <p:nvPr/>
        </p:nvSpPr>
        <p:spPr>
          <a:xfrm>
            <a:off x="11898530" y="517674"/>
            <a:ext cx="809760" cy="197971"/>
          </a:xfrm>
          <a:prstGeom prst="rect">
            <a:avLst/>
          </a:prstGeom>
        </p:spPr>
        <p:txBody>
          <a:bodyPr lIns="0" tIns="0" rIns="0" bIns="0" rtlCol="0" anchor="t">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pic>
        <p:nvPicPr>
          <p:cNvPr id="17" name="Picture 17"/>
          <p:cNvPicPr>
            <a:picLocks noChangeAspect="1"/>
          </p:cNvPicPr>
          <p:nvPr/>
        </p:nvPicPr>
        <p:blipFill>
          <a:blip r:embed="rId4"/>
          <a:stretch>
            <a:fillRect/>
          </a:stretch>
        </p:blipFill>
        <p:spPr>
          <a:xfrm>
            <a:off x="8673956" y="1714500"/>
            <a:ext cx="8960668" cy="7894097"/>
          </a:xfrm>
          <a:prstGeom prst="rect">
            <a:avLst/>
          </a:prstGeom>
        </p:spPr>
      </p:pic>
      <p:sp>
        <p:nvSpPr>
          <p:cNvPr id="18" name="TextBox 18"/>
          <p:cNvSpPr txBox="1"/>
          <p:nvPr/>
        </p:nvSpPr>
        <p:spPr>
          <a:xfrm>
            <a:off x="1555498" y="1211348"/>
            <a:ext cx="9950702" cy="731752"/>
          </a:xfrm>
          <a:prstGeom prst="rect">
            <a:avLst/>
          </a:prstGeom>
        </p:spPr>
        <p:txBody>
          <a:bodyPr lIns="0" tIns="0" rIns="0" bIns="0" rtlCol="0" anchor="t">
            <a:spAutoFit/>
          </a:bodyPr>
          <a:lstStyle/>
          <a:p>
            <a:pPr algn="l">
              <a:lnSpc>
                <a:spcPts val="5336"/>
              </a:lnSpc>
            </a:pPr>
            <a:r>
              <a:rPr lang="en-US" sz="4560" b="1" dirty="0">
                <a:solidFill>
                  <a:srgbClr val="1F2020"/>
                </a:solidFill>
                <a:latin typeface="Poppins Bold"/>
                <a:ea typeface="Poppins Bold"/>
                <a:cs typeface="Poppins Bold"/>
                <a:sym typeface="Poppins Bold"/>
              </a:rPr>
              <a:t>Sales and Profit based on region.</a:t>
            </a:r>
          </a:p>
        </p:txBody>
      </p:sp>
      <p:sp>
        <p:nvSpPr>
          <p:cNvPr id="19" name="TextBox 19"/>
          <p:cNvSpPr txBox="1"/>
          <p:nvPr/>
        </p:nvSpPr>
        <p:spPr>
          <a:xfrm>
            <a:off x="1371600" y="2250440"/>
            <a:ext cx="7838410" cy="5788660"/>
          </a:xfrm>
          <a:prstGeom prst="rect">
            <a:avLst/>
          </a:prstGeom>
        </p:spPr>
        <p:txBody>
          <a:bodyPr lIns="0" tIns="0" rIns="0" bIns="0" rtlCol="0" anchor="t">
            <a:spAutoFit/>
          </a:bodyPr>
          <a:lstStyle/>
          <a:p>
            <a:pPr marL="345439" lvl="1" indent="-172720" algn="l">
              <a:lnSpc>
                <a:spcPts val="2239"/>
              </a:lnSpc>
              <a:buAutoNum type="arabicPeriod"/>
            </a:pPr>
            <a:r>
              <a:rPr lang="en-US" sz="1599" b="1" dirty="0">
                <a:solidFill>
                  <a:srgbClr val="FF7300"/>
                </a:solidFill>
                <a:latin typeface="Open Sans Bold"/>
                <a:ea typeface="Open Sans Bold"/>
                <a:cs typeface="Open Sans Bold"/>
                <a:sym typeface="Open Sans Bold"/>
              </a:rPr>
              <a:t>Sales vs. Profit Comparison:</a:t>
            </a:r>
          </a:p>
          <a:p>
            <a:pPr marL="690879" lvl="2" indent="-230293" algn="l">
              <a:lnSpc>
                <a:spcPts val="2239"/>
              </a:lnSpc>
              <a:buFont typeface="Arial"/>
              <a:buChar char="⚬"/>
            </a:pPr>
            <a:r>
              <a:rPr lang="en-US" sz="1599" dirty="0">
                <a:solidFill>
                  <a:srgbClr val="1F2020"/>
                </a:solidFill>
                <a:latin typeface="Open Sans"/>
                <a:ea typeface="Open Sans"/>
                <a:cs typeface="Open Sans"/>
                <a:sym typeface="Open Sans"/>
              </a:rPr>
              <a:t>The chart shows both the sum of sales (orange) and sum of profit (black) across different regions and customer segments, providing a direct comparison.</a:t>
            </a:r>
          </a:p>
          <a:p>
            <a:pPr marL="345439" lvl="1" indent="-172720" algn="l">
              <a:lnSpc>
                <a:spcPts val="2239"/>
              </a:lnSpc>
              <a:buAutoNum type="arabicPeriod"/>
            </a:pPr>
            <a:r>
              <a:rPr lang="en-US" sz="1599" b="1" dirty="0">
                <a:solidFill>
                  <a:srgbClr val="FF7300"/>
                </a:solidFill>
                <a:latin typeface="Open Sans Bold"/>
                <a:ea typeface="Open Sans Bold"/>
                <a:cs typeface="Open Sans Bold"/>
                <a:sym typeface="Open Sans Bold"/>
              </a:rPr>
              <a:t>Top-Performing Segments:</a:t>
            </a:r>
          </a:p>
          <a:p>
            <a:pPr marL="690879" lvl="2" indent="-230293" algn="l">
              <a:lnSpc>
                <a:spcPts val="2239"/>
              </a:lnSpc>
              <a:buFont typeface="Arial"/>
              <a:buChar char="⚬"/>
            </a:pPr>
            <a:r>
              <a:rPr lang="en-US" sz="1599" dirty="0">
                <a:solidFill>
                  <a:srgbClr val="1F2020"/>
                </a:solidFill>
                <a:latin typeface="Open Sans"/>
                <a:ea typeface="Open Sans"/>
                <a:cs typeface="Open Sans"/>
                <a:sym typeface="Open Sans"/>
              </a:rPr>
              <a:t>Corporate Segment: Strong performance in both sales and profit, especially notable in the West region.</a:t>
            </a:r>
          </a:p>
          <a:p>
            <a:pPr marL="690879" lvl="2" indent="-230293" algn="l">
              <a:lnSpc>
                <a:spcPts val="2239"/>
              </a:lnSpc>
              <a:buFont typeface="Arial"/>
              <a:buChar char="⚬"/>
            </a:pPr>
            <a:r>
              <a:rPr lang="en-US" sz="1599" dirty="0">
                <a:solidFill>
                  <a:srgbClr val="1F2020"/>
                </a:solidFill>
                <a:latin typeface="Open Sans"/>
                <a:ea typeface="Open Sans"/>
                <a:cs typeface="Open Sans"/>
                <a:sym typeface="Open Sans"/>
              </a:rPr>
              <a:t>West Region: Shows the highest overall profit across segments, particularly for Corporate customers.</a:t>
            </a:r>
          </a:p>
          <a:p>
            <a:pPr marL="345439" lvl="1" indent="-172720" algn="l">
              <a:lnSpc>
                <a:spcPts val="2239"/>
              </a:lnSpc>
              <a:buAutoNum type="arabicPeriod"/>
            </a:pPr>
            <a:r>
              <a:rPr lang="en-US" sz="1599" b="1" dirty="0">
                <a:solidFill>
                  <a:srgbClr val="FF7300"/>
                </a:solidFill>
                <a:latin typeface="Open Sans Bold"/>
                <a:ea typeface="Open Sans Bold"/>
                <a:cs typeface="Open Sans Bold"/>
                <a:sym typeface="Open Sans Bold"/>
              </a:rPr>
              <a:t>Regional Trends:</a:t>
            </a:r>
          </a:p>
          <a:p>
            <a:pPr marL="690879" lvl="2" indent="-230293" algn="l">
              <a:lnSpc>
                <a:spcPts val="2239"/>
              </a:lnSpc>
              <a:buFont typeface="Arial"/>
              <a:buChar char="⚬"/>
            </a:pPr>
            <a:r>
              <a:rPr lang="en-US" sz="1599" dirty="0">
                <a:solidFill>
                  <a:srgbClr val="1F2020"/>
                </a:solidFill>
                <a:latin typeface="Open Sans"/>
                <a:ea typeface="Open Sans"/>
                <a:cs typeface="Open Sans"/>
                <a:sym typeface="Open Sans"/>
              </a:rPr>
              <a:t>East and South Regions: Display lower profit margins across customer segments despite moderate sales.</a:t>
            </a:r>
          </a:p>
          <a:p>
            <a:pPr marL="690879" lvl="2" indent="-230293" algn="l">
              <a:lnSpc>
                <a:spcPts val="2239"/>
              </a:lnSpc>
              <a:buFont typeface="Arial"/>
              <a:buChar char="⚬"/>
            </a:pPr>
            <a:r>
              <a:rPr lang="en-US" sz="1599" dirty="0">
                <a:solidFill>
                  <a:srgbClr val="1F2020"/>
                </a:solidFill>
                <a:latin typeface="Open Sans"/>
                <a:ea typeface="Open Sans"/>
                <a:cs typeface="Open Sans"/>
                <a:sym typeface="Open Sans"/>
              </a:rPr>
              <a:t>Central Region: Consistently shows lower profit compared to other regions, with sales also being comparatively lower.</a:t>
            </a:r>
          </a:p>
          <a:p>
            <a:pPr marL="345439" lvl="1" indent="-172720" algn="l">
              <a:lnSpc>
                <a:spcPts val="2239"/>
              </a:lnSpc>
              <a:buAutoNum type="arabicPeriod"/>
            </a:pPr>
            <a:r>
              <a:rPr lang="en-US" sz="1599" b="1" dirty="0">
                <a:solidFill>
                  <a:srgbClr val="FF7300"/>
                </a:solidFill>
                <a:latin typeface="Open Sans Bold"/>
                <a:ea typeface="Open Sans Bold"/>
                <a:cs typeface="Open Sans Bold"/>
                <a:sym typeface="Open Sans Bold"/>
              </a:rPr>
              <a:t>Consumer Segment Performance:</a:t>
            </a:r>
          </a:p>
          <a:p>
            <a:pPr marL="690879" lvl="2" indent="-230293" algn="l">
              <a:lnSpc>
                <a:spcPts val="2239"/>
              </a:lnSpc>
              <a:buFont typeface="Arial"/>
              <a:buChar char="⚬"/>
            </a:pPr>
            <a:r>
              <a:rPr lang="en-US" sz="1599" dirty="0">
                <a:solidFill>
                  <a:srgbClr val="1F2020"/>
                </a:solidFill>
                <a:latin typeface="Open Sans"/>
                <a:ea typeface="Open Sans"/>
                <a:cs typeface="Open Sans"/>
                <a:sym typeface="Open Sans"/>
              </a:rPr>
              <a:t>In most regions, the Consumer segment has relatively high sales but lower profits, suggesting potential areas for margin improvement.</a:t>
            </a:r>
          </a:p>
          <a:p>
            <a:pPr marL="345439" lvl="1" indent="-172720" algn="l">
              <a:lnSpc>
                <a:spcPts val="2239"/>
              </a:lnSpc>
              <a:buAutoNum type="arabicPeriod"/>
            </a:pPr>
            <a:r>
              <a:rPr lang="en-US" sz="1599" b="1" dirty="0">
                <a:solidFill>
                  <a:srgbClr val="FF7300"/>
                </a:solidFill>
                <a:latin typeface="Open Sans Bold"/>
                <a:ea typeface="Open Sans Bold"/>
                <a:cs typeface="Open Sans Bold"/>
                <a:sym typeface="Open Sans Bold"/>
              </a:rPr>
              <a:t>Home Office Segment:</a:t>
            </a:r>
          </a:p>
          <a:p>
            <a:pPr marL="690879" lvl="2" indent="-230293" algn="l">
              <a:lnSpc>
                <a:spcPts val="2239"/>
              </a:lnSpc>
              <a:buFont typeface="Arial"/>
              <a:buChar char="⚬"/>
            </a:pPr>
            <a:r>
              <a:rPr lang="en-US" sz="1599" dirty="0">
                <a:solidFill>
                  <a:srgbClr val="1F2020"/>
                </a:solidFill>
                <a:latin typeface="Open Sans"/>
                <a:ea typeface="Open Sans"/>
                <a:cs typeface="Open Sans"/>
                <a:sym typeface="Open Sans"/>
              </a:rPr>
              <a:t>Limited sales volume and profits, with the West showing the best performance for this segment.</a:t>
            </a:r>
          </a:p>
          <a:p>
            <a:pPr algn="l">
              <a:lnSpc>
                <a:spcPts val="2239"/>
              </a:lnSpc>
              <a:spcBef>
                <a:spcPct val="0"/>
              </a:spcBef>
            </a:pPr>
            <a:endParaRPr lang="en-US" sz="1599" dirty="0">
              <a:solidFill>
                <a:srgbClr val="1F2020"/>
              </a:solidFill>
              <a:latin typeface="Open Sans"/>
              <a:ea typeface="Open Sans"/>
              <a:cs typeface="Open Sans"/>
              <a:sym typeface="Open Sans"/>
            </a:endParaRPr>
          </a:p>
        </p:txBody>
      </p:sp>
      <p:grpSp>
        <p:nvGrpSpPr>
          <p:cNvPr id="20" name="Group 25">
            <a:extLst>
              <a:ext uri="{FF2B5EF4-FFF2-40B4-BE49-F238E27FC236}">
                <a16:creationId xmlns:a16="http://schemas.microsoft.com/office/drawing/2014/main" id="{433A83C1-1263-8120-DFFF-93410ABE1CC9}"/>
              </a:ext>
            </a:extLst>
          </p:cNvPr>
          <p:cNvGrpSpPr/>
          <p:nvPr/>
        </p:nvGrpSpPr>
        <p:grpSpPr>
          <a:xfrm>
            <a:off x="1600200" y="1790700"/>
            <a:ext cx="1042538" cy="47625"/>
            <a:chOff x="0" y="0"/>
            <a:chExt cx="274578" cy="12543"/>
          </a:xfrm>
        </p:grpSpPr>
        <p:sp>
          <p:nvSpPr>
            <p:cNvPr id="21" name="Freeform 26">
              <a:extLst>
                <a:ext uri="{FF2B5EF4-FFF2-40B4-BE49-F238E27FC236}">
                  <a16:creationId xmlns:a16="http://schemas.microsoft.com/office/drawing/2014/main" id="{A31CDAF5-6B78-7143-3D2D-B658F3858AAE}"/>
                </a:ext>
              </a:extLst>
            </p:cNvPr>
            <p:cNvSpPr/>
            <p:nvPr/>
          </p:nvSpPr>
          <p:spPr>
            <a:xfrm>
              <a:off x="0" y="0"/>
              <a:ext cx="274578" cy="12543"/>
            </a:xfrm>
            <a:custGeom>
              <a:avLst/>
              <a:gdLst/>
              <a:ahLst/>
              <a:cxnLst/>
              <a:rect l="l" t="t" r="r" b="b"/>
              <a:pathLst>
                <a:path w="274578" h="12543">
                  <a:moveTo>
                    <a:pt x="6272" y="0"/>
                  </a:moveTo>
                  <a:lnTo>
                    <a:pt x="268306" y="0"/>
                  </a:lnTo>
                  <a:cubicBezTo>
                    <a:pt x="269970" y="0"/>
                    <a:pt x="271565" y="661"/>
                    <a:pt x="272741" y="1837"/>
                  </a:cubicBezTo>
                  <a:cubicBezTo>
                    <a:pt x="273917" y="3013"/>
                    <a:pt x="274578" y="4608"/>
                    <a:pt x="274578" y="6272"/>
                  </a:cubicBezTo>
                  <a:lnTo>
                    <a:pt x="274578" y="6272"/>
                  </a:lnTo>
                  <a:cubicBezTo>
                    <a:pt x="274578" y="7935"/>
                    <a:pt x="273917" y="9530"/>
                    <a:pt x="272741" y="10706"/>
                  </a:cubicBezTo>
                  <a:cubicBezTo>
                    <a:pt x="271565" y="11882"/>
                    <a:pt x="269970" y="12543"/>
                    <a:pt x="268306"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FF7300"/>
            </a:solidFill>
          </p:spPr>
        </p:sp>
        <p:sp>
          <p:nvSpPr>
            <p:cNvPr id="22" name="TextBox 27">
              <a:extLst>
                <a:ext uri="{FF2B5EF4-FFF2-40B4-BE49-F238E27FC236}">
                  <a16:creationId xmlns:a16="http://schemas.microsoft.com/office/drawing/2014/main" id="{1A2A20C1-5DD1-72CB-FD00-C32C8CCCB4C1}"/>
                </a:ext>
              </a:extLst>
            </p:cNvPr>
            <p:cNvSpPr txBox="1"/>
            <p:nvPr/>
          </p:nvSpPr>
          <p:spPr>
            <a:xfrm>
              <a:off x="0" y="-38100"/>
              <a:ext cx="274578" cy="50643"/>
            </a:xfrm>
            <a:prstGeom prst="rect">
              <a:avLst/>
            </a:prstGeom>
          </p:spPr>
          <p:txBody>
            <a:bodyPr lIns="50800" tIns="50800" rIns="50800" bIns="50800" rtlCol="0" anchor="ctr"/>
            <a:lstStyle/>
            <a:p>
              <a:pPr algn="ctr">
                <a:lnSpc>
                  <a:spcPts val="2659"/>
                </a:lnSpc>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93116" y="565634"/>
            <a:ext cx="397367" cy="28996"/>
            <a:chOff x="0" y="0"/>
            <a:chExt cx="128243" cy="9358"/>
          </a:xfrm>
        </p:grpSpPr>
        <p:sp>
          <p:nvSpPr>
            <p:cNvPr id="3" name="Freeform 3"/>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solidFill>
              <a:srgbClr val="FF7300"/>
            </a:solidFill>
          </p:spPr>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93116" y="657737"/>
            <a:ext cx="397367" cy="28996"/>
            <a:chOff x="0" y="0"/>
            <a:chExt cx="128243" cy="9358"/>
          </a:xfrm>
        </p:grpSpPr>
        <p:sp>
          <p:nvSpPr>
            <p:cNvPr id="6" name="Freeform 6"/>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solidFill>
              <a:srgbClr val="FF7300"/>
            </a:solidFill>
          </p:spPr>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673429" y="486649"/>
            <a:ext cx="274427" cy="260019"/>
          </a:xfrm>
          <a:custGeom>
            <a:avLst/>
            <a:gdLst/>
            <a:ahLst/>
            <a:cxnLst/>
            <a:rect l="l" t="t" r="r" b="b"/>
            <a:pathLst>
              <a:path w="274427" h="260019">
                <a:moveTo>
                  <a:pt x="0" y="0"/>
                </a:moveTo>
                <a:lnTo>
                  <a:pt x="274427" y="0"/>
                </a:lnTo>
                <a:lnTo>
                  <a:pt x="274427" y="260020"/>
                </a:lnTo>
                <a:lnTo>
                  <a:pt x="0" y="2600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18177932" y="8597752"/>
            <a:ext cx="110068" cy="660548"/>
            <a:chOff x="0" y="0"/>
            <a:chExt cx="28989" cy="173972"/>
          </a:xfrm>
        </p:grpSpPr>
        <p:sp>
          <p:nvSpPr>
            <p:cNvPr id="10" name="Freeform 10"/>
            <p:cNvSpPr/>
            <p:nvPr/>
          </p:nvSpPr>
          <p:spPr>
            <a:xfrm>
              <a:off x="0" y="0"/>
              <a:ext cx="28989" cy="173972"/>
            </a:xfrm>
            <a:custGeom>
              <a:avLst/>
              <a:gdLst/>
              <a:ahLst/>
              <a:cxnLst/>
              <a:rect l="l" t="t" r="r" b="b"/>
              <a:pathLst>
                <a:path w="28989" h="173972">
                  <a:moveTo>
                    <a:pt x="0" y="0"/>
                  </a:moveTo>
                  <a:lnTo>
                    <a:pt x="28989" y="0"/>
                  </a:lnTo>
                  <a:lnTo>
                    <a:pt x="28989" y="173972"/>
                  </a:lnTo>
                  <a:lnTo>
                    <a:pt x="0" y="173972"/>
                  </a:lnTo>
                  <a:close/>
                </a:path>
              </a:pathLst>
            </a:custGeom>
            <a:solidFill>
              <a:srgbClr val="FF7300"/>
            </a:solidFill>
          </p:spPr>
        </p:sp>
        <p:sp>
          <p:nvSpPr>
            <p:cNvPr id="11" name="TextBox 11"/>
            <p:cNvSpPr txBox="1"/>
            <p:nvPr/>
          </p:nvSpPr>
          <p:spPr>
            <a:xfrm>
              <a:off x="0" y="-38100"/>
              <a:ext cx="28989" cy="212072"/>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039108" y="508149"/>
            <a:ext cx="1547756" cy="240665"/>
          </a:xfrm>
          <a:prstGeom prst="rect">
            <a:avLst/>
          </a:prstGeom>
        </p:spPr>
        <p:txBody>
          <a:bodyPr lIns="0" tIns="0" rIns="0" bIns="0" rtlCol="0" anchor="t">
            <a:spAutoFit/>
          </a:bodyPr>
          <a:lstStyle/>
          <a:p>
            <a:pPr algn="l">
              <a:lnSpc>
                <a:spcPts val="1960"/>
              </a:lnSpc>
              <a:spcBef>
                <a:spcPct val="0"/>
              </a:spcBef>
            </a:pPr>
            <a:r>
              <a:rPr lang="en-US" sz="1400">
                <a:solidFill>
                  <a:srgbClr val="1F2020"/>
                </a:solidFill>
                <a:latin typeface="Open Sans"/>
                <a:ea typeface="Open Sans"/>
                <a:cs typeface="Open Sans"/>
                <a:sym typeface="Open Sans"/>
              </a:rPr>
              <a:t>Group B</a:t>
            </a:r>
          </a:p>
        </p:txBody>
      </p:sp>
      <p:sp>
        <p:nvSpPr>
          <p:cNvPr id="13" name="TextBox 13"/>
          <p:cNvSpPr txBox="1"/>
          <p:nvPr/>
        </p:nvSpPr>
        <p:spPr>
          <a:xfrm>
            <a:off x="15940842" y="517674"/>
            <a:ext cx="978460" cy="197971"/>
          </a:xfrm>
          <a:prstGeom prst="rect">
            <a:avLst/>
          </a:prstGeom>
        </p:spPr>
        <p:txBody>
          <a:bodyPr lIns="0" tIns="0" rIns="0" bIns="0" rtlCol="0" anchor="t">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id="14" name="TextBox 14"/>
          <p:cNvSpPr txBox="1"/>
          <p:nvPr/>
        </p:nvSpPr>
        <p:spPr>
          <a:xfrm>
            <a:off x="14385046" y="517674"/>
            <a:ext cx="1060497" cy="197971"/>
          </a:xfrm>
          <a:prstGeom prst="rect">
            <a:avLst/>
          </a:prstGeom>
        </p:spPr>
        <p:txBody>
          <a:bodyPr lIns="0" tIns="0" rIns="0" bIns="0" rtlCol="0" anchor="t">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id="15" name="TextBox 15"/>
          <p:cNvSpPr txBox="1"/>
          <p:nvPr/>
        </p:nvSpPr>
        <p:spPr>
          <a:xfrm>
            <a:off x="13154289" y="517674"/>
            <a:ext cx="735456" cy="197971"/>
          </a:xfrm>
          <a:prstGeom prst="rect">
            <a:avLst/>
          </a:prstGeom>
        </p:spPr>
        <p:txBody>
          <a:bodyPr lIns="0" tIns="0" rIns="0" bIns="0" rtlCol="0" anchor="t">
            <a:spAutoFit/>
          </a:bodyPr>
          <a:lstStyle/>
          <a:p>
            <a:pPr algn="l">
              <a:lnSpc>
                <a:spcPts val="1680"/>
              </a:lnSpc>
              <a:spcBef>
                <a:spcPct val="0"/>
              </a:spcBef>
            </a:pPr>
            <a:r>
              <a:rPr lang="en-US" sz="1200">
                <a:solidFill>
                  <a:srgbClr val="1F2020"/>
                </a:solidFill>
                <a:latin typeface="Open Sans"/>
                <a:ea typeface="Open Sans"/>
                <a:cs typeface="Open Sans"/>
                <a:sym typeface="Open Sans"/>
              </a:rPr>
              <a:t>Photo</a:t>
            </a:r>
          </a:p>
        </p:txBody>
      </p:sp>
      <p:sp>
        <p:nvSpPr>
          <p:cNvPr id="16" name="TextBox 16"/>
          <p:cNvSpPr txBox="1"/>
          <p:nvPr/>
        </p:nvSpPr>
        <p:spPr>
          <a:xfrm>
            <a:off x="11898530" y="517674"/>
            <a:ext cx="809760" cy="197971"/>
          </a:xfrm>
          <a:prstGeom prst="rect">
            <a:avLst/>
          </a:prstGeom>
        </p:spPr>
        <p:txBody>
          <a:bodyPr lIns="0" tIns="0" rIns="0" bIns="0" rtlCol="0" anchor="t">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pic>
        <p:nvPicPr>
          <p:cNvPr id="17" name="Picture 17"/>
          <p:cNvPicPr>
            <a:picLocks noChangeAspect="1"/>
          </p:cNvPicPr>
          <p:nvPr/>
        </p:nvPicPr>
        <p:blipFill>
          <a:blip r:embed="rId4"/>
          <a:stretch>
            <a:fillRect/>
          </a:stretch>
        </p:blipFill>
        <p:spPr>
          <a:xfrm>
            <a:off x="1106885" y="1574187"/>
            <a:ext cx="8473211" cy="6883766"/>
          </a:xfrm>
          <a:prstGeom prst="rect">
            <a:avLst/>
          </a:prstGeom>
        </p:spPr>
      </p:pic>
      <p:sp>
        <p:nvSpPr>
          <p:cNvPr id="18" name="TextBox 18"/>
          <p:cNvSpPr txBox="1"/>
          <p:nvPr/>
        </p:nvSpPr>
        <p:spPr>
          <a:xfrm>
            <a:off x="1594192" y="1129436"/>
            <a:ext cx="11560097" cy="731752"/>
          </a:xfrm>
          <a:prstGeom prst="rect">
            <a:avLst/>
          </a:prstGeom>
        </p:spPr>
        <p:txBody>
          <a:bodyPr lIns="0" tIns="0" rIns="0" bIns="0" rtlCol="0" anchor="t">
            <a:spAutoFit/>
          </a:bodyPr>
          <a:lstStyle/>
          <a:p>
            <a:pPr algn="l">
              <a:lnSpc>
                <a:spcPts val="5336"/>
              </a:lnSpc>
            </a:pPr>
            <a:r>
              <a:rPr lang="en-US" sz="4560" b="1" dirty="0">
                <a:solidFill>
                  <a:srgbClr val="1F2020"/>
                </a:solidFill>
                <a:latin typeface="Poppins Bold"/>
                <a:ea typeface="Poppins Bold"/>
                <a:cs typeface="Poppins Bold"/>
                <a:sym typeface="Poppins Bold"/>
              </a:rPr>
              <a:t>Sales calculated on yearly basis.</a:t>
            </a:r>
          </a:p>
        </p:txBody>
      </p:sp>
      <p:grpSp>
        <p:nvGrpSpPr>
          <p:cNvPr id="19" name="Group 19"/>
          <p:cNvGrpSpPr/>
          <p:nvPr/>
        </p:nvGrpSpPr>
        <p:grpSpPr>
          <a:xfrm>
            <a:off x="9624424" y="2163445"/>
            <a:ext cx="677751" cy="677751"/>
            <a:chOff x="0" y="0"/>
            <a:chExt cx="812800" cy="812800"/>
          </a:xfrm>
        </p:grpSpPr>
        <p:sp>
          <p:nvSpPr>
            <p:cNvPr id="20" name="Freeform 20"/>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7300"/>
            </a:solidFill>
          </p:spPr>
        </p:sp>
        <p:sp>
          <p:nvSpPr>
            <p:cNvPr id="21" name="TextBox 21"/>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sp>
        <p:nvSpPr>
          <p:cNvPr id="22" name="TextBox 22"/>
          <p:cNvSpPr txBox="1"/>
          <p:nvPr/>
        </p:nvSpPr>
        <p:spPr>
          <a:xfrm>
            <a:off x="10428898" y="2134870"/>
            <a:ext cx="6646103" cy="1369060"/>
          </a:xfrm>
          <a:prstGeom prst="rect">
            <a:avLst/>
          </a:prstGeom>
        </p:spPr>
        <p:txBody>
          <a:bodyPr lIns="0" tIns="0" rIns="0" bIns="0" rtlCol="0" anchor="t">
            <a:spAutoFit/>
          </a:bodyPr>
          <a:lstStyle/>
          <a:p>
            <a:pPr algn="l">
              <a:lnSpc>
                <a:spcPts val="2239"/>
              </a:lnSpc>
            </a:pPr>
            <a:r>
              <a:rPr lang="en-US" sz="1599" b="1" dirty="0">
                <a:solidFill>
                  <a:srgbClr val="FF7300"/>
                </a:solidFill>
                <a:latin typeface="Open Sans Bold"/>
                <a:ea typeface="Open Sans Bold"/>
                <a:cs typeface="Open Sans Bold"/>
                <a:sym typeface="Open Sans Bold"/>
              </a:rPr>
              <a:t>Rapid Growth in Technology:</a:t>
            </a:r>
            <a:r>
              <a:rPr lang="en-US" sz="1599" dirty="0">
                <a:solidFill>
                  <a:srgbClr val="1F2020"/>
                </a:solidFill>
                <a:latin typeface="Open Sans"/>
                <a:ea typeface="Open Sans"/>
                <a:cs typeface="Open Sans"/>
                <a:sym typeface="Open Sans"/>
              </a:rPr>
              <a:t> The Technology category shows the most significant growth, climbing from approximately 8% in 2011 to nearly 12% by 2014, indicating strong market demand and expansion potential.</a:t>
            </a:r>
          </a:p>
          <a:p>
            <a:pPr algn="l">
              <a:lnSpc>
                <a:spcPts val="2239"/>
              </a:lnSpc>
              <a:spcBef>
                <a:spcPct val="0"/>
              </a:spcBef>
            </a:pPr>
            <a:endParaRPr lang="en-US" sz="1599" dirty="0">
              <a:solidFill>
                <a:srgbClr val="1F2020"/>
              </a:solidFill>
              <a:latin typeface="Open Sans"/>
              <a:ea typeface="Open Sans"/>
              <a:cs typeface="Open Sans"/>
              <a:sym typeface="Open Sans"/>
            </a:endParaRPr>
          </a:p>
        </p:txBody>
      </p:sp>
      <p:sp>
        <p:nvSpPr>
          <p:cNvPr id="23" name="TextBox 23"/>
          <p:cNvSpPr txBox="1"/>
          <p:nvPr/>
        </p:nvSpPr>
        <p:spPr>
          <a:xfrm>
            <a:off x="9705720" y="2310867"/>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Bold"/>
                <a:ea typeface="Open Sans Bold"/>
                <a:cs typeface="Open Sans Bold"/>
                <a:sym typeface="Open Sans Bold"/>
              </a:rPr>
              <a:t>01</a:t>
            </a:r>
          </a:p>
        </p:txBody>
      </p:sp>
      <p:grpSp>
        <p:nvGrpSpPr>
          <p:cNvPr id="24" name="Group 24"/>
          <p:cNvGrpSpPr/>
          <p:nvPr/>
        </p:nvGrpSpPr>
        <p:grpSpPr>
          <a:xfrm>
            <a:off x="9624424" y="3503930"/>
            <a:ext cx="677751" cy="677751"/>
            <a:chOff x="0" y="0"/>
            <a:chExt cx="812800" cy="812800"/>
          </a:xfrm>
        </p:grpSpPr>
        <p:sp>
          <p:nvSpPr>
            <p:cNvPr id="25" name="Freeform 2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7300"/>
            </a:solidFill>
          </p:spPr>
        </p:sp>
        <p:sp>
          <p:nvSpPr>
            <p:cNvPr id="26" name="TextBox 26"/>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sp>
        <p:nvSpPr>
          <p:cNvPr id="27" name="TextBox 27"/>
          <p:cNvSpPr txBox="1"/>
          <p:nvPr/>
        </p:nvSpPr>
        <p:spPr>
          <a:xfrm>
            <a:off x="10409258" y="3475355"/>
            <a:ext cx="6665742" cy="1369060"/>
          </a:xfrm>
          <a:prstGeom prst="rect">
            <a:avLst/>
          </a:prstGeom>
        </p:spPr>
        <p:txBody>
          <a:bodyPr lIns="0" tIns="0" rIns="0" bIns="0" rtlCol="0" anchor="t">
            <a:spAutoFit/>
          </a:bodyPr>
          <a:lstStyle/>
          <a:p>
            <a:pPr algn="l">
              <a:lnSpc>
                <a:spcPts val="2239"/>
              </a:lnSpc>
            </a:pPr>
            <a:r>
              <a:rPr lang="en-US" sz="1599" b="1" dirty="0">
                <a:solidFill>
                  <a:srgbClr val="FF7300"/>
                </a:solidFill>
                <a:latin typeface="Open Sans Bold"/>
                <a:ea typeface="Open Sans Bold"/>
                <a:cs typeface="Open Sans Bold"/>
                <a:sym typeface="Open Sans Bold"/>
              </a:rPr>
              <a:t>Consistent Upward Trend Across All Categories:</a:t>
            </a:r>
            <a:r>
              <a:rPr lang="en-US" sz="1599" b="1" dirty="0">
                <a:solidFill>
                  <a:srgbClr val="1F2020"/>
                </a:solidFill>
                <a:latin typeface="Open Sans Bold"/>
                <a:ea typeface="Open Sans Bold"/>
                <a:cs typeface="Open Sans Bold"/>
                <a:sym typeface="Open Sans Bold"/>
              </a:rPr>
              <a:t> </a:t>
            </a:r>
            <a:r>
              <a:rPr lang="en-US" sz="1599" dirty="0">
                <a:solidFill>
                  <a:srgbClr val="1F2020"/>
                </a:solidFill>
                <a:latin typeface="Open Sans"/>
                <a:ea typeface="Open Sans"/>
                <a:cs typeface="Open Sans"/>
                <a:sym typeface="Open Sans"/>
              </a:rPr>
              <a:t>All product categories show an upward sales trend from 2012 onward, reflecting overall positive growth in sales performance.</a:t>
            </a:r>
          </a:p>
          <a:p>
            <a:pPr algn="l">
              <a:lnSpc>
                <a:spcPts val="2239"/>
              </a:lnSpc>
            </a:pPr>
            <a:endParaRPr lang="en-US" sz="1599" dirty="0">
              <a:solidFill>
                <a:srgbClr val="1F2020"/>
              </a:solidFill>
              <a:latin typeface="Open Sans"/>
              <a:ea typeface="Open Sans"/>
              <a:cs typeface="Open Sans"/>
              <a:sym typeface="Open Sans"/>
            </a:endParaRPr>
          </a:p>
          <a:p>
            <a:pPr algn="l">
              <a:lnSpc>
                <a:spcPts val="2239"/>
              </a:lnSpc>
              <a:spcBef>
                <a:spcPct val="0"/>
              </a:spcBef>
            </a:pPr>
            <a:endParaRPr lang="en-US" sz="1599" dirty="0">
              <a:solidFill>
                <a:srgbClr val="1F2020"/>
              </a:solidFill>
              <a:latin typeface="Open Sans"/>
              <a:ea typeface="Open Sans"/>
              <a:cs typeface="Open Sans"/>
              <a:sym typeface="Open Sans"/>
            </a:endParaRPr>
          </a:p>
        </p:txBody>
      </p:sp>
      <p:sp>
        <p:nvSpPr>
          <p:cNvPr id="28" name="TextBox 28"/>
          <p:cNvSpPr txBox="1"/>
          <p:nvPr/>
        </p:nvSpPr>
        <p:spPr>
          <a:xfrm>
            <a:off x="9705720" y="3679927"/>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Bold"/>
                <a:ea typeface="Open Sans Bold"/>
                <a:cs typeface="Open Sans Bold"/>
                <a:sym typeface="Open Sans Bold"/>
              </a:rPr>
              <a:t>02</a:t>
            </a:r>
          </a:p>
        </p:txBody>
      </p:sp>
      <p:grpSp>
        <p:nvGrpSpPr>
          <p:cNvPr id="29" name="Group 29"/>
          <p:cNvGrpSpPr/>
          <p:nvPr/>
        </p:nvGrpSpPr>
        <p:grpSpPr>
          <a:xfrm>
            <a:off x="9624424" y="4629888"/>
            <a:ext cx="677751" cy="677751"/>
            <a:chOff x="0" y="0"/>
            <a:chExt cx="812800" cy="812800"/>
          </a:xfrm>
        </p:grpSpPr>
        <p:sp>
          <p:nvSpPr>
            <p:cNvPr id="30" name="Freeform 30"/>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7300"/>
            </a:solidFill>
          </p:spPr>
        </p:sp>
        <p:sp>
          <p:nvSpPr>
            <p:cNvPr id="31" name="TextBox 31"/>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sp>
        <p:nvSpPr>
          <p:cNvPr id="32" name="TextBox 32"/>
          <p:cNvSpPr txBox="1"/>
          <p:nvPr/>
        </p:nvSpPr>
        <p:spPr>
          <a:xfrm>
            <a:off x="10428898" y="4601313"/>
            <a:ext cx="6665742" cy="1092835"/>
          </a:xfrm>
          <a:prstGeom prst="rect">
            <a:avLst/>
          </a:prstGeom>
        </p:spPr>
        <p:txBody>
          <a:bodyPr lIns="0" tIns="0" rIns="0" bIns="0" rtlCol="0" anchor="t">
            <a:spAutoFit/>
          </a:bodyPr>
          <a:lstStyle/>
          <a:p>
            <a:pPr algn="l">
              <a:lnSpc>
                <a:spcPts val="2239"/>
              </a:lnSpc>
            </a:pPr>
            <a:r>
              <a:rPr lang="en-US" sz="1599" b="1">
                <a:solidFill>
                  <a:srgbClr val="FF7300"/>
                </a:solidFill>
                <a:latin typeface="Open Sans Bold"/>
                <a:ea typeface="Open Sans Bold"/>
                <a:cs typeface="Open Sans Bold"/>
                <a:sym typeface="Open Sans Bold"/>
              </a:rPr>
              <a:t>Office Supplies Recovery:</a:t>
            </a:r>
            <a:r>
              <a:rPr lang="en-US" sz="1599" b="1">
                <a:solidFill>
                  <a:srgbClr val="1F2020"/>
                </a:solidFill>
                <a:latin typeface="Open Sans Bold"/>
                <a:ea typeface="Open Sans Bold"/>
                <a:cs typeface="Open Sans Bold"/>
                <a:sym typeface="Open Sans Bold"/>
              </a:rPr>
              <a:t> </a:t>
            </a:r>
            <a:r>
              <a:rPr lang="en-US" sz="1599">
                <a:solidFill>
                  <a:srgbClr val="1F2020"/>
                </a:solidFill>
                <a:latin typeface="Open Sans"/>
                <a:ea typeface="Open Sans"/>
                <a:cs typeface="Open Sans"/>
                <a:sym typeface="Open Sans"/>
              </a:rPr>
              <a:t>Office Supplies experienced a dip in 2012 but rebounded strongly, reaching over 9% in 2014, suggesting effective strategic adjustments or market recovery in this category.</a:t>
            </a:r>
          </a:p>
          <a:p>
            <a:pPr algn="l">
              <a:lnSpc>
                <a:spcPts val="2239"/>
              </a:lnSpc>
              <a:spcBef>
                <a:spcPct val="0"/>
              </a:spcBef>
            </a:pPr>
            <a:endParaRPr lang="en-US" sz="1599">
              <a:solidFill>
                <a:srgbClr val="1F2020"/>
              </a:solidFill>
              <a:latin typeface="Open Sans"/>
              <a:ea typeface="Open Sans"/>
              <a:cs typeface="Open Sans"/>
              <a:sym typeface="Open Sans"/>
            </a:endParaRPr>
          </a:p>
        </p:txBody>
      </p:sp>
      <p:grpSp>
        <p:nvGrpSpPr>
          <p:cNvPr id="33" name="Group 33"/>
          <p:cNvGrpSpPr/>
          <p:nvPr/>
        </p:nvGrpSpPr>
        <p:grpSpPr>
          <a:xfrm>
            <a:off x="9624424" y="5755846"/>
            <a:ext cx="677751" cy="677751"/>
            <a:chOff x="0" y="0"/>
            <a:chExt cx="812800" cy="812800"/>
          </a:xfrm>
        </p:grpSpPr>
        <p:sp>
          <p:nvSpPr>
            <p:cNvPr id="34" name="Freeform 3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7300"/>
            </a:solidFill>
          </p:spPr>
        </p:sp>
        <p:sp>
          <p:nvSpPr>
            <p:cNvPr id="35" name="TextBox 35"/>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grpSp>
        <p:nvGrpSpPr>
          <p:cNvPr id="36" name="Group 36"/>
          <p:cNvGrpSpPr/>
          <p:nvPr/>
        </p:nvGrpSpPr>
        <p:grpSpPr>
          <a:xfrm>
            <a:off x="9614899" y="7090821"/>
            <a:ext cx="677751" cy="677751"/>
            <a:chOff x="0" y="0"/>
            <a:chExt cx="812800" cy="812800"/>
          </a:xfrm>
        </p:grpSpPr>
        <p:sp>
          <p:nvSpPr>
            <p:cNvPr id="37" name="Freeform 3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7300"/>
            </a:solidFill>
          </p:spPr>
        </p:sp>
        <p:sp>
          <p:nvSpPr>
            <p:cNvPr id="38" name="TextBox 38"/>
            <p:cNvSpPr txBox="1"/>
            <p:nvPr/>
          </p:nvSpPr>
          <p:spPr>
            <a:xfrm>
              <a:off x="0" y="-47625"/>
              <a:ext cx="812800" cy="860425"/>
            </a:xfrm>
            <a:prstGeom prst="rect">
              <a:avLst/>
            </a:prstGeom>
          </p:spPr>
          <p:txBody>
            <a:bodyPr lIns="50800" tIns="50800" rIns="50800" bIns="50800" rtlCol="0" anchor="ctr"/>
            <a:lstStyle/>
            <a:p>
              <a:pPr algn="ctr">
                <a:lnSpc>
                  <a:spcPts val="2239"/>
                </a:lnSpc>
              </a:pPr>
              <a:endParaRPr/>
            </a:p>
          </p:txBody>
        </p:sp>
      </p:grpSp>
      <p:sp>
        <p:nvSpPr>
          <p:cNvPr id="39" name="TextBox 39"/>
          <p:cNvSpPr txBox="1"/>
          <p:nvPr/>
        </p:nvSpPr>
        <p:spPr>
          <a:xfrm>
            <a:off x="9705720" y="5926763"/>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Bold"/>
                <a:ea typeface="Open Sans Bold"/>
                <a:cs typeface="Open Sans Bold"/>
                <a:sym typeface="Open Sans Bold"/>
              </a:rPr>
              <a:t>04</a:t>
            </a:r>
          </a:p>
        </p:txBody>
      </p:sp>
      <p:sp>
        <p:nvSpPr>
          <p:cNvPr id="40" name="TextBox 40"/>
          <p:cNvSpPr txBox="1"/>
          <p:nvPr/>
        </p:nvSpPr>
        <p:spPr>
          <a:xfrm>
            <a:off x="9715245" y="7233696"/>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Bold"/>
                <a:ea typeface="Open Sans Bold"/>
                <a:cs typeface="Open Sans Bold"/>
                <a:sym typeface="Open Sans Bold"/>
              </a:rPr>
              <a:t>05</a:t>
            </a:r>
          </a:p>
        </p:txBody>
      </p:sp>
      <p:sp>
        <p:nvSpPr>
          <p:cNvPr id="41" name="TextBox 41"/>
          <p:cNvSpPr txBox="1"/>
          <p:nvPr/>
        </p:nvSpPr>
        <p:spPr>
          <a:xfrm>
            <a:off x="10448538" y="5727271"/>
            <a:ext cx="6646103" cy="1307465"/>
          </a:xfrm>
          <a:prstGeom prst="rect">
            <a:avLst/>
          </a:prstGeom>
        </p:spPr>
        <p:txBody>
          <a:bodyPr lIns="0" tIns="0" rIns="0" bIns="0" rtlCol="0" anchor="t">
            <a:spAutoFit/>
          </a:bodyPr>
          <a:lstStyle/>
          <a:p>
            <a:pPr algn="l">
              <a:lnSpc>
                <a:spcPts val="2239"/>
              </a:lnSpc>
            </a:pPr>
            <a:r>
              <a:rPr lang="en-US" sz="1599" b="1">
                <a:solidFill>
                  <a:srgbClr val="FF7300"/>
                </a:solidFill>
                <a:latin typeface="Open Sans Bold"/>
                <a:ea typeface="Open Sans Bold"/>
                <a:cs typeface="Open Sans Bold"/>
                <a:sym typeface="Open Sans Bold"/>
              </a:rPr>
              <a:t>Moderate Growth in Furniture:</a:t>
            </a:r>
            <a:r>
              <a:rPr lang="en-US" sz="1599">
                <a:solidFill>
                  <a:srgbClr val="1F2020"/>
                </a:solidFill>
                <a:latin typeface="Open Sans"/>
                <a:ea typeface="Open Sans"/>
                <a:cs typeface="Open Sans"/>
                <a:sym typeface="Open Sans"/>
              </a:rPr>
              <a:t> Furniture shows the slowest growth among the three categories, increasing steadily but more modestly, highlighting a potential need for targeted strategies to accelerate growth.</a:t>
            </a:r>
          </a:p>
          <a:p>
            <a:pPr algn="l">
              <a:lnSpc>
                <a:spcPts val="1680"/>
              </a:lnSpc>
              <a:spcBef>
                <a:spcPct val="0"/>
              </a:spcBef>
            </a:pPr>
            <a:endParaRPr lang="en-US" sz="1599">
              <a:solidFill>
                <a:srgbClr val="1F2020"/>
              </a:solidFill>
              <a:latin typeface="Open Sans"/>
              <a:ea typeface="Open Sans"/>
              <a:cs typeface="Open Sans"/>
              <a:sym typeface="Open Sans"/>
            </a:endParaRPr>
          </a:p>
        </p:txBody>
      </p:sp>
      <p:sp>
        <p:nvSpPr>
          <p:cNvPr id="42" name="TextBox 42"/>
          <p:cNvSpPr txBox="1"/>
          <p:nvPr/>
        </p:nvSpPr>
        <p:spPr>
          <a:xfrm>
            <a:off x="10428898" y="7006161"/>
            <a:ext cx="6646103" cy="1031240"/>
          </a:xfrm>
          <a:prstGeom prst="rect">
            <a:avLst/>
          </a:prstGeom>
        </p:spPr>
        <p:txBody>
          <a:bodyPr lIns="0" tIns="0" rIns="0" bIns="0" rtlCol="0" anchor="t">
            <a:spAutoFit/>
          </a:bodyPr>
          <a:lstStyle/>
          <a:p>
            <a:pPr algn="l">
              <a:lnSpc>
                <a:spcPts val="2239"/>
              </a:lnSpc>
            </a:pPr>
            <a:r>
              <a:rPr lang="en-US" sz="1599" b="1">
                <a:solidFill>
                  <a:srgbClr val="FF7300"/>
                </a:solidFill>
                <a:latin typeface="Open Sans Bold"/>
                <a:ea typeface="Open Sans Bold"/>
                <a:cs typeface="Open Sans Bold"/>
                <a:sym typeface="Open Sans Bold"/>
              </a:rPr>
              <a:t>Investment Opportunity in Technology: </a:t>
            </a:r>
            <a:r>
              <a:rPr lang="en-US" sz="1599">
                <a:solidFill>
                  <a:srgbClr val="1F2020"/>
                </a:solidFill>
                <a:latin typeface="Open Sans"/>
                <a:ea typeface="Open Sans"/>
                <a:cs typeface="Open Sans"/>
                <a:sym typeface="Open Sans"/>
              </a:rPr>
              <a:t>Given Technology’s rapid and sustained growth, further investment and focus on this category could capitalize on its upward trajectory and drive higher overall sales.</a:t>
            </a:r>
          </a:p>
          <a:p>
            <a:pPr algn="l">
              <a:lnSpc>
                <a:spcPts val="1680"/>
              </a:lnSpc>
              <a:spcBef>
                <a:spcPct val="0"/>
              </a:spcBef>
            </a:pPr>
            <a:endParaRPr lang="en-US" sz="1599">
              <a:solidFill>
                <a:srgbClr val="1F2020"/>
              </a:solidFill>
              <a:latin typeface="Open Sans"/>
              <a:ea typeface="Open Sans"/>
              <a:cs typeface="Open Sans"/>
              <a:sym typeface="Open Sans"/>
            </a:endParaRPr>
          </a:p>
        </p:txBody>
      </p:sp>
      <p:sp>
        <p:nvSpPr>
          <p:cNvPr id="43" name="TextBox 43"/>
          <p:cNvSpPr txBox="1"/>
          <p:nvPr/>
        </p:nvSpPr>
        <p:spPr>
          <a:xfrm>
            <a:off x="9705720" y="4796893"/>
            <a:ext cx="496110" cy="297180"/>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Open Sans Bold"/>
                <a:ea typeface="Open Sans Bold"/>
                <a:cs typeface="Open Sans Bold"/>
                <a:sym typeface="Open Sans Bold"/>
              </a:rPr>
              <a:t>03</a:t>
            </a:r>
          </a:p>
        </p:txBody>
      </p:sp>
      <p:grpSp>
        <p:nvGrpSpPr>
          <p:cNvPr id="44" name="Group 25">
            <a:extLst>
              <a:ext uri="{FF2B5EF4-FFF2-40B4-BE49-F238E27FC236}">
                <a16:creationId xmlns:a16="http://schemas.microsoft.com/office/drawing/2014/main" id="{6224DAA8-3E83-89B8-8D7C-B60878D7095D}"/>
              </a:ext>
            </a:extLst>
          </p:cNvPr>
          <p:cNvGrpSpPr/>
          <p:nvPr/>
        </p:nvGrpSpPr>
        <p:grpSpPr>
          <a:xfrm>
            <a:off x="1594192" y="1781422"/>
            <a:ext cx="1042538" cy="47625"/>
            <a:chOff x="0" y="0"/>
            <a:chExt cx="274578" cy="12543"/>
          </a:xfrm>
        </p:grpSpPr>
        <p:sp>
          <p:nvSpPr>
            <p:cNvPr id="45" name="Freeform 26">
              <a:extLst>
                <a:ext uri="{FF2B5EF4-FFF2-40B4-BE49-F238E27FC236}">
                  <a16:creationId xmlns:a16="http://schemas.microsoft.com/office/drawing/2014/main" id="{820BF7DC-C5B2-DADB-60CA-3AFDD6F1A1FB}"/>
                </a:ext>
              </a:extLst>
            </p:cNvPr>
            <p:cNvSpPr/>
            <p:nvPr/>
          </p:nvSpPr>
          <p:spPr>
            <a:xfrm>
              <a:off x="0" y="0"/>
              <a:ext cx="274578" cy="12543"/>
            </a:xfrm>
            <a:custGeom>
              <a:avLst/>
              <a:gdLst/>
              <a:ahLst/>
              <a:cxnLst/>
              <a:rect l="l" t="t" r="r" b="b"/>
              <a:pathLst>
                <a:path w="274578" h="12543">
                  <a:moveTo>
                    <a:pt x="6272" y="0"/>
                  </a:moveTo>
                  <a:lnTo>
                    <a:pt x="268306" y="0"/>
                  </a:lnTo>
                  <a:cubicBezTo>
                    <a:pt x="269970" y="0"/>
                    <a:pt x="271565" y="661"/>
                    <a:pt x="272741" y="1837"/>
                  </a:cubicBezTo>
                  <a:cubicBezTo>
                    <a:pt x="273917" y="3013"/>
                    <a:pt x="274578" y="4608"/>
                    <a:pt x="274578" y="6272"/>
                  </a:cubicBezTo>
                  <a:lnTo>
                    <a:pt x="274578" y="6272"/>
                  </a:lnTo>
                  <a:cubicBezTo>
                    <a:pt x="274578" y="7935"/>
                    <a:pt x="273917" y="9530"/>
                    <a:pt x="272741" y="10706"/>
                  </a:cubicBezTo>
                  <a:cubicBezTo>
                    <a:pt x="271565" y="11882"/>
                    <a:pt x="269970" y="12543"/>
                    <a:pt x="268306"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FF7300"/>
            </a:solidFill>
          </p:spPr>
        </p:sp>
        <p:sp>
          <p:nvSpPr>
            <p:cNvPr id="46" name="TextBox 27">
              <a:extLst>
                <a:ext uri="{FF2B5EF4-FFF2-40B4-BE49-F238E27FC236}">
                  <a16:creationId xmlns:a16="http://schemas.microsoft.com/office/drawing/2014/main" id="{7269799A-4223-2661-1424-53738C22FC50}"/>
                </a:ext>
              </a:extLst>
            </p:cNvPr>
            <p:cNvSpPr txBox="1"/>
            <p:nvPr/>
          </p:nvSpPr>
          <p:spPr>
            <a:xfrm>
              <a:off x="0" y="-38100"/>
              <a:ext cx="274578" cy="50643"/>
            </a:xfrm>
            <a:prstGeom prst="rect">
              <a:avLst/>
            </a:prstGeom>
          </p:spPr>
          <p:txBody>
            <a:bodyPr lIns="50800" tIns="50800" rIns="50800" bIns="50800" rtlCol="0" anchor="ctr"/>
            <a:lstStyle/>
            <a:p>
              <a:pPr algn="ctr">
                <a:lnSpc>
                  <a:spcPts val="2659"/>
                </a:lnSpc>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93116" y="565634"/>
            <a:ext cx="397367" cy="28996"/>
            <a:chOff x="0" y="0"/>
            <a:chExt cx="128243" cy="9358"/>
          </a:xfrm>
        </p:grpSpPr>
        <p:sp>
          <p:nvSpPr>
            <p:cNvPr id="3" name="Freeform 3"/>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solidFill>
              <a:srgbClr val="FF7300"/>
            </a:solidFill>
          </p:spPr>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93116" y="657737"/>
            <a:ext cx="397367" cy="28996"/>
            <a:chOff x="0" y="0"/>
            <a:chExt cx="128243" cy="9358"/>
          </a:xfrm>
        </p:grpSpPr>
        <p:sp>
          <p:nvSpPr>
            <p:cNvPr id="6" name="Freeform 6"/>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solidFill>
              <a:srgbClr val="FF7300"/>
            </a:solidFill>
          </p:spPr>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673429" y="486649"/>
            <a:ext cx="274427" cy="260019"/>
          </a:xfrm>
          <a:custGeom>
            <a:avLst/>
            <a:gdLst/>
            <a:ahLst/>
            <a:cxnLst/>
            <a:rect l="l" t="t" r="r" b="b"/>
            <a:pathLst>
              <a:path w="274427" h="260019">
                <a:moveTo>
                  <a:pt x="0" y="0"/>
                </a:moveTo>
                <a:lnTo>
                  <a:pt x="274427" y="0"/>
                </a:lnTo>
                <a:lnTo>
                  <a:pt x="274427" y="260020"/>
                </a:lnTo>
                <a:lnTo>
                  <a:pt x="0" y="2600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18177932" y="8597752"/>
            <a:ext cx="110068" cy="660548"/>
            <a:chOff x="0" y="0"/>
            <a:chExt cx="28989" cy="173972"/>
          </a:xfrm>
        </p:grpSpPr>
        <p:sp>
          <p:nvSpPr>
            <p:cNvPr id="10" name="Freeform 10"/>
            <p:cNvSpPr/>
            <p:nvPr/>
          </p:nvSpPr>
          <p:spPr>
            <a:xfrm>
              <a:off x="0" y="0"/>
              <a:ext cx="28989" cy="173972"/>
            </a:xfrm>
            <a:custGeom>
              <a:avLst/>
              <a:gdLst/>
              <a:ahLst/>
              <a:cxnLst/>
              <a:rect l="l" t="t" r="r" b="b"/>
              <a:pathLst>
                <a:path w="28989" h="173972">
                  <a:moveTo>
                    <a:pt x="0" y="0"/>
                  </a:moveTo>
                  <a:lnTo>
                    <a:pt x="28989" y="0"/>
                  </a:lnTo>
                  <a:lnTo>
                    <a:pt x="28989" y="173972"/>
                  </a:lnTo>
                  <a:lnTo>
                    <a:pt x="0" y="173972"/>
                  </a:lnTo>
                  <a:close/>
                </a:path>
              </a:pathLst>
            </a:custGeom>
            <a:solidFill>
              <a:srgbClr val="FF7300"/>
            </a:solidFill>
          </p:spPr>
        </p:sp>
        <p:sp>
          <p:nvSpPr>
            <p:cNvPr id="11" name="TextBox 11"/>
            <p:cNvSpPr txBox="1"/>
            <p:nvPr/>
          </p:nvSpPr>
          <p:spPr>
            <a:xfrm>
              <a:off x="0" y="-38100"/>
              <a:ext cx="28989" cy="212072"/>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039108" y="508149"/>
            <a:ext cx="1547756" cy="240665"/>
          </a:xfrm>
          <a:prstGeom prst="rect">
            <a:avLst/>
          </a:prstGeom>
        </p:spPr>
        <p:txBody>
          <a:bodyPr lIns="0" tIns="0" rIns="0" bIns="0" rtlCol="0" anchor="t">
            <a:spAutoFit/>
          </a:bodyPr>
          <a:lstStyle/>
          <a:p>
            <a:pPr algn="l">
              <a:lnSpc>
                <a:spcPts val="1960"/>
              </a:lnSpc>
              <a:spcBef>
                <a:spcPct val="0"/>
              </a:spcBef>
            </a:pPr>
            <a:r>
              <a:rPr lang="en-US" sz="1400">
                <a:solidFill>
                  <a:srgbClr val="1F2020"/>
                </a:solidFill>
                <a:latin typeface="Open Sans"/>
                <a:ea typeface="Open Sans"/>
                <a:cs typeface="Open Sans"/>
                <a:sym typeface="Open Sans"/>
              </a:rPr>
              <a:t>Group B</a:t>
            </a:r>
          </a:p>
        </p:txBody>
      </p:sp>
      <p:sp>
        <p:nvSpPr>
          <p:cNvPr id="13" name="TextBox 13"/>
          <p:cNvSpPr txBox="1"/>
          <p:nvPr/>
        </p:nvSpPr>
        <p:spPr>
          <a:xfrm>
            <a:off x="15940842" y="517674"/>
            <a:ext cx="978460" cy="197971"/>
          </a:xfrm>
          <a:prstGeom prst="rect">
            <a:avLst/>
          </a:prstGeom>
        </p:spPr>
        <p:txBody>
          <a:bodyPr lIns="0" tIns="0" rIns="0" bIns="0" rtlCol="0" anchor="t">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id="14" name="TextBox 14"/>
          <p:cNvSpPr txBox="1"/>
          <p:nvPr/>
        </p:nvSpPr>
        <p:spPr>
          <a:xfrm>
            <a:off x="14385046" y="517674"/>
            <a:ext cx="1060497" cy="197971"/>
          </a:xfrm>
          <a:prstGeom prst="rect">
            <a:avLst/>
          </a:prstGeom>
        </p:spPr>
        <p:txBody>
          <a:bodyPr lIns="0" tIns="0" rIns="0" bIns="0" rtlCol="0" anchor="t">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id="15" name="TextBox 15"/>
          <p:cNvSpPr txBox="1"/>
          <p:nvPr/>
        </p:nvSpPr>
        <p:spPr>
          <a:xfrm>
            <a:off x="13154289" y="517674"/>
            <a:ext cx="735456" cy="197971"/>
          </a:xfrm>
          <a:prstGeom prst="rect">
            <a:avLst/>
          </a:prstGeom>
        </p:spPr>
        <p:txBody>
          <a:bodyPr lIns="0" tIns="0" rIns="0" bIns="0" rtlCol="0" anchor="t">
            <a:spAutoFit/>
          </a:bodyPr>
          <a:lstStyle/>
          <a:p>
            <a:pPr algn="l">
              <a:lnSpc>
                <a:spcPts val="1680"/>
              </a:lnSpc>
              <a:spcBef>
                <a:spcPct val="0"/>
              </a:spcBef>
            </a:pPr>
            <a:r>
              <a:rPr lang="en-US" sz="1200">
                <a:solidFill>
                  <a:srgbClr val="1F2020"/>
                </a:solidFill>
                <a:latin typeface="Open Sans"/>
                <a:ea typeface="Open Sans"/>
                <a:cs typeface="Open Sans"/>
                <a:sym typeface="Open Sans"/>
              </a:rPr>
              <a:t>Photo</a:t>
            </a:r>
          </a:p>
        </p:txBody>
      </p:sp>
      <p:sp>
        <p:nvSpPr>
          <p:cNvPr id="16" name="TextBox 16"/>
          <p:cNvSpPr txBox="1"/>
          <p:nvPr/>
        </p:nvSpPr>
        <p:spPr>
          <a:xfrm>
            <a:off x="11898530" y="517674"/>
            <a:ext cx="809760" cy="197971"/>
          </a:xfrm>
          <a:prstGeom prst="rect">
            <a:avLst/>
          </a:prstGeom>
        </p:spPr>
        <p:txBody>
          <a:bodyPr lIns="0" tIns="0" rIns="0" bIns="0" rtlCol="0" anchor="t">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pic>
        <p:nvPicPr>
          <p:cNvPr id="17" name="Picture 17"/>
          <p:cNvPicPr>
            <a:picLocks noChangeAspect="1"/>
          </p:cNvPicPr>
          <p:nvPr/>
        </p:nvPicPr>
        <p:blipFill>
          <a:blip r:embed="rId4"/>
          <a:stretch>
            <a:fillRect/>
          </a:stretch>
        </p:blipFill>
        <p:spPr>
          <a:xfrm>
            <a:off x="6297906" y="1863829"/>
            <a:ext cx="10525762" cy="8116479"/>
          </a:xfrm>
          <a:prstGeom prst="rect">
            <a:avLst/>
          </a:prstGeom>
        </p:spPr>
      </p:pic>
      <p:sp>
        <p:nvSpPr>
          <p:cNvPr id="18" name="TextBox 18"/>
          <p:cNvSpPr txBox="1"/>
          <p:nvPr/>
        </p:nvSpPr>
        <p:spPr>
          <a:xfrm>
            <a:off x="1254304" y="1717156"/>
            <a:ext cx="10306483" cy="731752"/>
          </a:xfrm>
          <a:prstGeom prst="rect">
            <a:avLst/>
          </a:prstGeom>
        </p:spPr>
        <p:txBody>
          <a:bodyPr lIns="0" tIns="0" rIns="0" bIns="0" rtlCol="0" anchor="t">
            <a:spAutoFit/>
          </a:bodyPr>
          <a:lstStyle/>
          <a:p>
            <a:pPr algn="l">
              <a:lnSpc>
                <a:spcPts val="5336"/>
              </a:lnSpc>
            </a:pPr>
            <a:r>
              <a:rPr lang="en-US" sz="4560" b="1">
                <a:solidFill>
                  <a:srgbClr val="1F2020"/>
                </a:solidFill>
                <a:latin typeface="Poppins Bold"/>
                <a:ea typeface="Poppins Bold"/>
                <a:cs typeface="Poppins Bold"/>
                <a:sym typeface="Poppins Bold"/>
              </a:rPr>
              <a:t>Region Specific Shipping mode.</a:t>
            </a:r>
          </a:p>
        </p:txBody>
      </p:sp>
      <p:sp>
        <p:nvSpPr>
          <p:cNvPr id="19" name="TextBox 19"/>
          <p:cNvSpPr txBox="1"/>
          <p:nvPr/>
        </p:nvSpPr>
        <p:spPr>
          <a:xfrm>
            <a:off x="1320245" y="2736215"/>
            <a:ext cx="5471885" cy="1645285"/>
          </a:xfrm>
          <a:prstGeom prst="rect">
            <a:avLst/>
          </a:prstGeom>
        </p:spPr>
        <p:txBody>
          <a:bodyPr lIns="0" tIns="0" rIns="0" bIns="0" rtlCol="0" anchor="t">
            <a:spAutoFit/>
          </a:bodyPr>
          <a:lstStyle/>
          <a:p>
            <a:pPr algn="l">
              <a:lnSpc>
                <a:spcPts val="2239"/>
              </a:lnSpc>
            </a:pPr>
            <a:r>
              <a:rPr lang="en-US" sz="1599" b="1" dirty="0">
                <a:solidFill>
                  <a:srgbClr val="FF7300"/>
                </a:solidFill>
                <a:latin typeface="Open Sans Bold"/>
                <a:ea typeface="Open Sans Bold"/>
                <a:cs typeface="Open Sans Bold"/>
                <a:sym typeface="Open Sans Bold"/>
              </a:rPr>
              <a:t>Dominance of Standard Class:</a:t>
            </a:r>
          </a:p>
          <a:p>
            <a:pPr marL="345439" lvl="1" indent="-172720" algn="l">
              <a:lnSpc>
                <a:spcPts val="2239"/>
              </a:lnSpc>
              <a:buFont typeface="Arial"/>
              <a:buChar char="•"/>
            </a:pPr>
            <a:r>
              <a:rPr lang="en-US" sz="1599" dirty="0">
                <a:solidFill>
                  <a:srgbClr val="1F2020"/>
                </a:solidFill>
                <a:latin typeface="Open Sans"/>
                <a:ea typeface="Open Sans"/>
                <a:cs typeface="Open Sans"/>
                <a:sym typeface="Open Sans"/>
              </a:rPr>
              <a:t>Standard Class shipping is the most widely used mode across all regions, especially in the West, where it reaches over 30%, indicating a strong preference for cost-effective shipping options.</a:t>
            </a:r>
          </a:p>
          <a:p>
            <a:pPr algn="l">
              <a:lnSpc>
                <a:spcPts val="2239"/>
              </a:lnSpc>
              <a:spcBef>
                <a:spcPct val="0"/>
              </a:spcBef>
            </a:pPr>
            <a:endParaRPr lang="en-US" sz="1599" dirty="0">
              <a:solidFill>
                <a:srgbClr val="1F2020"/>
              </a:solidFill>
              <a:latin typeface="Open Sans"/>
              <a:ea typeface="Open Sans"/>
              <a:cs typeface="Open Sans"/>
              <a:sym typeface="Open Sans"/>
            </a:endParaRPr>
          </a:p>
        </p:txBody>
      </p:sp>
      <p:sp>
        <p:nvSpPr>
          <p:cNvPr id="20" name="TextBox 20"/>
          <p:cNvSpPr txBox="1"/>
          <p:nvPr/>
        </p:nvSpPr>
        <p:spPr>
          <a:xfrm>
            <a:off x="1320245" y="5784215"/>
            <a:ext cx="5471885" cy="1645285"/>
          </a:xfrm>
          <a:prstGeom prst="rect">
            <a:avLst/>
          </a:prstGeom>
        </p:spPr>
        <p:txBody>
          <a:bodyPr lIns="0" tIns="0" rIns="0" bIns="0" rtlCol="0" anchor="t">
            <a:spAutoFit/>
          </a:bodyPr>
          <a:lstStyle/>
          <a:p>
            <a:pPr algn="l">
              <a:lnSpc>
                <a:spcPts val="2239"/>
              </a:lnSpc>
            </a:pPr>
            <a:r>
              <a:rPr lang="en-US" sz="1599" b="1" dirty="0">
                <a:solidFill>
                  <a:srgbClr val="FF7300"/>
                </a:solidFill>
                <a:latin typeface="Open Sans Bold"/>
                <a:ea typeface="Open Sans Bold"/>
                <a:cs typeface="Open Sans Bold"/>
                <a:sym typeface="Open Sans Bold"/>
              </a:rPr>
              <a:t>Low Adoption of Same-Day and First Class Shipping:</a:t>
            </a:r>
          </a:p>
          <a:p>
            <a:pPr marL="345439" lvl="1" indent="-172720" algn="l">
              <a:lnSpc>
                <a:spcPts val="2239"/>
              </a:lnSpc>
              <a:buFont typeface="Arial"/>
              <a:buChar char="•"/>
            </a:pPr>
            <a:r>
              <a:rPr lang="en-US" sz="1599" dirty="0">
                <a:solidFill>
                  <a:srgbClr val="1F2020"/>
                </a:solidFill>
                <a:latin typeface="Open Sans"/>
                <a:ea typeface="Open Sans"/>
                <a:cs typeface="Open Sans"/>
                <a:sym typeface="Open Sans"/>
              </a:rPr>
              <a:t>Both Same Day and First Class shipping have minimal usage across all regions, indicating that customers might prioritize economy over speed, or there may be limited availability of faster options.</a:t>
            </a:r>
          </a:p>
          <a:p>
            <a:pPr algn="l">
              <a:lnSpc>
                <a:spcPts val="2239"/>
              </a:lnSpc>
              <a:spcBef>
                <a:spcPct val="0"/>
              </a:spcBef>
            </a:pPr>
            <a:endParaRPr lang="en-US" sz="1599" dirty="0">
              <a:solidFill>
                <a:srgbClr val="1F2020"/>
              </a:solidFill>
              <a:latin typeface="Open Sans"/>
              <a:ea typeface="Open Sans"/>
              <a:cs typeface="Open Sans"/>
              <a:sym typeface="Open Sans"/>
            </a:endParaRPr>
          </a:p>
        </p:txBody>
      </p:sp>
      <p:sp>
        <p:nvSpPr>
          <p:cNvPr id="21" name="TextBox 21"/>
          <p:cNvSpPr txBox="1"/>
          <p:nvPr/>
        </p:nvSpPr>
        <p:spPr>
          <a:xfrm>
            <a:off x="1320245" y="7277100"/>
            <a:ext cx="5471885" cy="1645285"/>
          </a:xfrm>
          <a:prstGeom prst="rect">
            <a:avLst/>
          </a:prstGeom>
        </p:spPr>
        <p:txBody>
          <a:bodyPr lIns="0" tIns="0" rIns="0" bIns="0" rtlCol="0" anchor="t">
            <a:spAutoFit/>
          </a:bodyPr>
          <a:lstStyle/>
          <a:p>
            <a:pPr algn="l">
              <a:lnSpc>
                <a:spcPts val="2239"/>
              </a:lnSpc>
            </a:pPr>
            <a:r>
              <a:rPr lang="en-US" sz="1599" b="1">
                <a:solidFill>
                  <a:srgbClr val="FF7300"/>
                </a:solidFill>
                <a:latin typeface="Open Sans Bold"/>
                <a:ea typeface="Open Sans Bold"/>
                <a:cs typeface="Open Sans Bold"/>
                <a:sym typeface="Open Sans Bold"/>
              </a:rPr>
              <a:t>Second Class as a Consistent Option:</a:t>
            </a:r>
          </a:p>
          <a:p>
            <a:pPr marL="345439" lvl="1" indent="-172720" algn="l">
              <a:lnSpc>
                <a:spcPts val="2239"/>
              </a:lnSpc>
              <a:buFont typeface="Arial"/>
              <a:buChar char="•"/>
            </a:pPr>
            <a:r>
              <a:rPr lang="en-US" sz="1599">
                <a:solidFill>
                  <a:srgbClr val="1F2020"/>
                </a:solidFill>
                <a:latin typeface="Open Sans"/>
                <a:ea typeface="Open Sans"/>
                <a:cs typeface="Open Sans"/>
                <a:sym typeface="Open Sans"/>
              </a:rPr>
              <a:t>Second Class shipping maintains a consistent, moderate presence across all regions, serving as a reliable middle-ground option for customers who need a balance between cost and speed.</a:t>
            </a:r>
          </a:p>
          <a:p>
            <a:pPr algn="l">
              <a:lnSpc>
                <a:spcPts val="2239"/>
              </a:lnSpc>
              <a:spcBef>
                <a:spcPct val="0"/>
              </a:spcBef>
            </a:pPr>
            <a:endParaRPr lang="en-US" sz="1599">
              <a:solidFill>
                <a:srgbClr val="1F2020"/>
              </a:solidFill>
              <a:latin typeface="Open Sans"/>
              <a:ea typeface="Open Sans"/>
              <a:cs typeface="Open Sans"/>
              <a:sym typeface="Open Sans"/>
            </a:endParaRPr>
          </a:p>
        </p:txBody>
      </p:sp>
      <p:sp>
        <p:nvSpPr>
          <p:cNvPr id="22" name="TextBox 22"/>
          <p:cNvSpPr txBox="1"/>
          <p:nvPr/>
        </p:nvSpPr>
        <p:spPr>
          <a:xfrm>
            <a:off x="1320245" y="4260215"/>
            <a:ext cx="5471885" cy="1645285"/>
          </a:xfrm>
          <a:prstGeom prst="rect">
            <a:avLst/>
          </a:prstGeom>
        </p:spPr>
        <p:txBody>
          <a:bodyPr lIns="0" tIns="0" rIns="0" bIns="0" rtlCol="0" anchor="t">
            <a:spAutoFit/>
          </a:bodyPr>
          <a:lstStyle/>
          <a:p>
            <a:pPr algn="l">
              <a:lnSpc>
                <a:spcPts val="2239"/>
              </a:lnSpc>
            </a:pPr>
            <a:r>
              <a:rPr lang="en-US" sz="1599" b="1" dirty="0">
                <a:solidFill>
                  <a:srgbClr val="FF7300"/>
                </a:solidFill>
                <a:latin typeface="Open Sans Bold"/>
                <a:ea typeface="Open Sans Bold"/>
                <a:cs typeface="Open Sans Bold"/>
                <a:sym typeface="Open Sans Bold"/>
              </a:rPr>
              <a:t>Regional Variation in Standard Class Usage:</a:t>
            </a:r>
          </a:p>
          <a:p>
            <a:pPr marL="345439" lvl="1" indent="-172720" algn="l">
              <a:lnSpc>
                <a:spcPts val="2239"/>
              </a:lnSpc>
              <a:buFont typeface="Arial"/>
              <a:buChar char="•"/>
            </a:pPr>
            <a:r>
              <a:rPr lang="en-US" sz="1599" dirty="0">
                <a:solidFill>
                  <a:srgbClr val="1F2020"/>
                </a:solidFill>
                <a:latin typeface="Open Sans"/>
                <a:ea typeface="Open Sans"/>
                <a:cs typeface="Open Sans"/>
                <a:sym typeface="Open Sans"/>
              </a:rPr>
              <a:t>The East and South regions have lower usage of Standard Class compared to the West, suggesting a potential opportunity to promote this option more effectively in these areas.</a:t>
            </a:r>
          </a:p>
          <a:p>
            <a:pPr algn="l">
              <a:lnSpc>
                <a:spcPts val="2239"/>
              </a:lnSpc>
              <a:spcBef>
                <a:spcPct val="0"/>
              </a:spcBef>
            </a:pPr>
            <a:endParaRPr lang="en-US" sz="1599" dirty="0">
              <a:solidFill>
                <a:srgbClr val="1F2020"/>
              </a:solidFill>
              <a:latin typeface="Open Sans"/>
              <a:ea typeface="Open Sans"/>
              <a:cs typeface="Open Sans"/>
              <a:sym typeface="Open Sans"/>
            </a:endParaRPr>
          </a:p>
        </p:txBody>
      </p:sp>
      <p:grpSp>
        <p:nvGrpSpPr>
          <p:cNvPr id="23" name="Group 25">
            <a:extLst>
              <a:ext uri="{FF2B5EF4-FFF2-40B4-BE49-F238E27FC236}">
                <a16:creationId xmlns:a16="http://schemas.microsoft.com/office/drawing/2014/main" id="{3A91CF5F-6B1C-D855-E3B3-147FDFB509DE}"/>
              </a:ext>
            </a:extLst>
          </p:cNvPr>
          <p:cNvGrpSpPr/>
          <p:nvPr/>
        </p:nvGrpSpPr>
        <p:grpSpPr>
          <a:xfrm>
            <a:off x="1243418" y="2398355"/>
            <a:ext cx="1042538" cy="47625"/>
            <a:chOff x="0" y="0"/>
            <a:chExt cx="274578" cy="12543"/>
          </a:xfrm>
        </p:grpSpPr>
        <p:sp>
          <p:nvSpPr>
            <p:cNvPr id="24" name="Freeform 26">
              <a:extLst>
                <a:ext uri="{FF2B5EF4-FFF2-40B4-BE49-F238E27FC236}">
                  <a16:creationId xmlns:a16="http://schemas.microsoft.com/office/drawing/2014/main" id="{74AFAB13-A68B-2DB9-2A2C-E1D516AA8064}"/>
                </a:ext>
              </a:extLst>
            </p:cNvPr>
            <p:cNvSpPr/>
            <p:nvPr/>
          </p:nvSpPr>
          <p:spPr>
            <a:xfrm>
              <a:off x="0" y="0"/>
              <a:ext cx="274578" cy="12543"/>
            </a:xfrm>
            <a:custGeom>
              <a:avLst/>
              <a:gdLst/>
              <a:ahLst/>
              <a:cxnLst/>
              <a:rect l="l" t="t" r="r" b="b"/>
              <a:pathLst>
                <a:path w="274578" h="12543">
                  <a:moveTo>
                    <a:pt x="6272" y="0"/>
                  </a:moveTo>
                  <a:lnTo>
                    <a:pt x="268306" y="0"/>
                  </a:lnTo>
                  <a:cubicBezTo>
                    <a:pt x="269970" y="0"/>
                    <a:pt x="271565" y="661"/>
                    <a:pt x="272741" y="1837"/>
                  </a:cubicBezTo>
                  <a:cubicBezTo>
                    <a:pt x="273917" y="3013"/>
                    <a:pt x="274578" y="4608"/>
                    <a:pt x="274578" y="6272"/>
                  </a:cubicBezTo>
                  <a:lnTo>
                    <a:pt x="274578" y="6272"/>
                  </a:lnTo>
                  <a:cubicBezTo>
                    <a:pt x="274578" y="7935"/>
                    <a:pt x="273917" y="9530"/>
                    <a:pt x="272741" y="10706"/>
                  </a:cubicBezTo>
                  <a:cubicBezTo>
                    <a:pt x="271565" y="11882"/>
                    <a:pt x="269970" y="12543"/>
                    <a:pt x="268306"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FF7300"/>
            </a:solidFill>
          </p:spPr>
        </p:sp>
        <p:sp>
          <p:nvSpPr>
            <p:cNvPr id="25" name="TextBox 27">
              <a:extLst>
                <a:ext uri="{FF2B5EF4-FFF2-40B4-BE49-F238E27FC236}">
                  <a16:creationId xmlns:a16="http://schemas.microsoft.com/office/drawing/2014/main" id="{CC5D0E56-5523-6E93-295C-21868701BC53}"/>
                </a:ext>
              </a:extLst>
            </p:cNvPr>
            <p:cNvSpPr txBox="1"/>
            <p:nvPr/>
          </p:nvSpPr>
          <p:spPr>
            <a:xfrm>
              <a:off x="0" y="-38100"/>
              <a:ext cx="274578" cy="50643"/>
            </a:xfrm>
            <a:prstGeom prst="rect">
              <a:avLst/>
            </a:prstGeom>
          </p:spPr>
          <p:txBody>
            <a:bodyPr lIns="50800" tIns="50800" rIns="50800" bIns="50800" rtlCol="0" anchor="ctr"/>
            <a:lstStyle/>
            <a:p>
              <a:pPr algn="ctr">
                <a:lnSpc>
                  <a:spcPts val="2659"/>
                </a:lnSpc>
              </a:pPr>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293116" y="565634"/>
            <a:ext cx="397367" cy="28996"/>
            <a:chOff x="0" y="0"/>
            <a:chExt cx="128243" cy="9358"/>
          </a:xfrm>
        </p:grpSpPr>
        <p:sp>
          <p:nvSpPr>
            <p:cNvPr id="3" name="Freeform 3"/>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solidFill>
              <a:srgbClr val="FF7300"/>
            </a:solidFill>
          </p:spPr>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93116" y="657737"/>
            <a:ext cx="397367" cy="28996"/>
            <a:chOff x="0" y="0"/>
            <a:chExt cx="128243" cy="9358"/>
          </a:xfrm>
        </p:grpSpPr>
        <p:sp>
          <p:nvSpPr>
            <p:cNvPr id="6" name="Freeform 6"/>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solidFill>
              <a:srgbClr val="FF7300"/>
            </a:solidFill>
          </p:spPr>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673429" y="486649"/>
            <a:ext cx="274427" cy="260019"/>
          </a:xfrm>
          <a:custGeom>
            <a:avLst/>
            <a:gdLst/>
            <a:ahLst/>
            <a:cxnLst/>
            <a:rect l="l" t="t" r="r" b="b"/>
            <a:pathLst>
              <a:path w="274427" h="260019">
                <a:moveTo>
                  <a:pt x="0" y="0"/>
                </a:moveTo>
                <a:lnTo>
                  <a:pt x="274427" y="0"/>
                </a:lnTo>
                <a:lnTo>
                  <a:pt x="274427" y="260020"/>
                </a:lnTo>
                <a:lnTo>
                  <a:pt x="0" y="26002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18177932" y="8597752"/>
            <a:ext cx="110068" cy="660548"/>
            <a:chOff x="0" y="0"/>
            <a:chExt cx="28989" cy="173972"/>
          </a:xfrm>
        </p:grpSpPr>
        <p:sp>
          <p:nvSpPr>
            <p:cNvPr id="10" name="Freeform 10"/>
            <p:cNvSpPr/>
            <p:nvPr/>
          </p:nvSpPr>
          <p:spPr>
            <a:xfrm>
              <a:off x="0" y="0"/>
              <a:ext cx="28989" cy="173972"/>
            </a:xfrm>
            <a:custGeom>
              <a:avLst/>
              <a:gdLst/>
              <a:ahLst/>
              <a:cxnLst/>
              <a:rect l="l" t="t" r="r" b="b"/>
              <a:pathLst>
                <a:path w="28989" h="173972">
                  <a:moveTo>
                    <a:pt x="0" y="0"/>
                  </a:moveTo>
                  <a:lnTo>
                    <a:pt x="28989" y="0"/>
                  </a:lnTo>
                  <a:lnTo>
                    <a:pt x="28989" y="173972"/>
                  </a:lnTo>
                  <a:lnTo>
                    <a:pt x="0" y="173972"/>
                  </a:lnTo>
                  <a:close/>
                </a:path>
              </a:pathLst>
            </a:custGeom>
            <a:solidFill>
              <a:srgbClr val="FF7300"/>
            </a:solidFill>
          </p:spPr>
        </p:sp>
        <p:sp>
          <p:nvSpPr>
            <p:cNvPr id="11" name="TextBox 11"/>
            <p:cNvSpPr txBox="1"/>
            <p:nvPr/>
          </p:nvSpPr>
          <p:spPr>
            <a:xfrm>
              <a:off x="0" y="-38100"/>
              <a:ext cx="28989" cy="212072"/>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039108" y="508149"/>
            <a:ext cx="1547756" cy="240665"/>
          </a:xfrm>
          <a:prstGeom prst="rect">
            <a:avLst/>
          </a:prstGeom>
        </p:spPr>
        <p:txBody>
          <a:bodyPr lIns="0" tIns="0" rIns="0" bIns="0" rtlCol="0" anchor="t">
            <a:spAutoFit/>
          </a:bodyPr>
          <a:lstStyle/>
          <a:p>
            <a:pPr algn="l">
              <a:lnSpc>
                <a:spcPts val="1960"/>
              </a:lnSpc>
              <a:spcBef>
                <a:spcPct val="0"/>
              </a:spcBef>
            </a:pPr>
            <a:r>
              <a:rPr lang="en-US" sz="1400">
                <a:solidFill>
                  <a:srgbClr val="1F2020"/>
                </a:solidFill>
                <a:latin typeface="Open Sans"/>
                <a:ea typeface="Open Sans"/>
                <a:cs typeface="Open Sans"/>
                <a:sym typeface="Open Sans"/>
              </a:rPr>
              <a:t>Group B</a:t>
            </a:r>
          </a:p>
        </p:txBody>
      </p:sp>
      <p:sp>
        <p:nvSpPr>
          <p:cNvPr id="13" name="TextBox 13"/>
          <p:cNvSpPr txBox="1"/>
          <p:nvPr/>
        </p:nvSpPr>
        <p:spPr>
          <a:xfrm>
            <a:off x="15940842" y="517674"/>
            <a:ext cx="978460" cy="197971"/>
          </a:xfrm>
          <a:prstGeom prst="rect">
            <a:avLst/>
          </a:prstGeom>
        </p:spPr>
        <p:txBody>
          <a:bodyPr lIns="0" tIns="0" rIns="0" bIns="0" rtlCol="0" anchor="t">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id="14" name="TextBox 14"/>
          <p:cNvSpPr txBox="1"/>
          <p:nvPr/>
        </p:nvSpPr>
        <p:spPr>
          <a:xfrm>
            <a:off x="14385046" y="517674"/>
            <a:ext cx="1060497" cy="197971"/>
          </a:xfrm>
          <a:prstGeom prst="rect">
            <a:avLst/>
          </a:prstGeom>
        </p:spPr>
        <p:txBody>
          <a:bodyPr lIns="0" tIns="0" rIns="0" bIns="0" rtlCol="0" anchor="t">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id="15" name="TextBox 15"/>
          <p:cNvSpPr txBox="1"/>
          <p:nvPr/>
        </p:nvSpPr>
        <p:spPr>
          <a:xfrm>
            <a:off x="13154289" y="517674"/>
            <a:ext cx="735456" cy="197971"/>
          </a:xfrm>
          <a:prstGeom prst="rect">
            <a:avLst/>
          </a:prstGeom>
        </p:spPr>
        <p:txBody>
          <a:bodyPr lIns="0" tIns="0" rIns="0" bIns="0" rtlCol="0" anchor="t">
            <a:spAutoFit/>
          </a:bodyPr>
          <a:lstStyle/>
          <a:p>
            <a:pPr algn="l">
              <a:lnSpc>
                <a:spcPts val="1680"/>
              </a:lnSpc>
              <a:spcBef>
                <a:spcPct val="0"/>
              </a:spcBef>
            </a:pPr>
            <a:r>
              <a:rPr lang="en-US" sz="1200">
                <a:solidFill>
                  <a:srgbClr val="1F2020"/>
                </a:solidFill>
                <a:latin typeface="Open Sans"/>
                <a:ea typeface="Open Sans"/>
                <a:cs typeface="Open Sans"/>
                <a:sym typeface="Open Sans"/>
              </a:rPr>
              <a:t>Photo</a:t>
            </a:r>
          </a:p>
        </p:txBody>
      </p:sp>
      <p:sp>
        <p:nvSpPr>
          <p:cNvPr id="16" name="TextBox 16"/>
          <p:cNvSpPr txBox="1"/>
          <p:nvPr/>
        </p:nvSpPr>
        <p:spPr>
          <a:xfrm>
            <a:off x="11898530" y="517674"/>
            <a:ext cx="809760" cy="197971"/>
          </a:xfrm>
          <a:prstGeom prst="rect">
            <a:avLst/>
          </a:prstGeom>
        </p:spPr>
        <p:txBody>
          <a:bodyPr lIns="0" tIns="0" rIns="0" bIns="0" rtlCol="0" anchor="t">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pic>
        <p:nvPicPr>
          <p:cNvPr id="17" name="Picture 17"/>
          <p:cNvPicPr>
            <a:picLocks noChangeAspect="1"/>
          </p:cNvPicPr>
          <p:nvPr/>
        </p:nvPicPr>
        <p:blipFill>
          <a:blip r:embed="rId4"/>
          <a:stretch>
            <a:fillRect/>
          </a:stretch>
        </p:blipFill>
        <p:spPr>
          <a:xfrm>
            <a:off x="9246998" y="3486717"/>
            <a:ext cx="3653755" cy="2131357"/>
          </a:xfrm>
          <a:prstGeom prst="rect">
            <a:avLst/>
          </a:prstGeom>
        </p:spPr>
      </p:pic>
      <p:sp>
        <p:nvSpPr>
          <p:cNvPr id="18" name="TextBox 18"/>
          <p:cNvSpPr txBox="1"/>
          <p:nvPr/>
        </p:nvSpPr>
        <p:spPr>
          <a:xfrm>
            <a:off x="13629419" y="5644448"/>
            <a:ext cx="2571750" cy="297180"/>
          </a:xfrm>
          <a:prstGeom prst="rect">
            <a:avLst/>
          </a:prstGeom>
        </p:spPr>
        <p:txBody>
          <a:bodyPr lIns="0" tIns="0" rIns="0" bIns="0" rtlCol="0" anchor="t">
            <a:spAutoFit/>
          </a:bodyPr>
          <a:lstStyle/>
          <a:p>
            <a:pPr algn="ctr">
              <a:lnSpc>
                <a:spcPts val="2519"/>
              </a:lnSpc>
              <a:spcBef>
                <a:spcPct val="0"/>
              </a:spcBef>
            </a:pPr>
            <a:r>
              <a:rPr lang="en-US" sz="1799" b="1">
                <a:solidFill>
                  <a:srgbClr val="1F2020"/>
                </a:solidFill>
                <a:latin typeface="Open Sans Bold"/>
                <a:ea typeface="Open Sans Bold"/>
                <a:cs typeface="Open Sans Bold"/>
                <a:sym typeface="Open Sans Bold"/>
              </a:rPr>
              <a:t>DATA SANITIZED</a:t>
            </a:r>
          </a:p>
        </p:txBody>
      </p:sp>
      <p:pic>
        <p:nvPicPr>
          <p:cNvPr id="19" name="Picture 19"/>
          <p:cNvPicPr>
            <a:picLocks noChangeAspect="1"/>
          </p:cNvPicPr>
          <p:nvPr/>
        </p:nvPicPr>
        <p:blipFill>
          <a:blip r:embed="rId5"/>
          <a:stretch>
            <a:fillRect/>
          </a:stretch>
        </p:blipFill>
        <p:spPr>
          <a:xfrm>
            <a:off x="1514914" y="3486717"/>
            <a:ext cx="3653755" cy="2131357"/>
          </a:xfrm>
          <a:prstGeom prst="rect">
            <a:avLst/>
          </a:prstGeom>
        </p:spPr>
      </p:pic>
      <p:sp>
        <p:nvSpPr>
          <p:cNvPr id="20" name="TextBox 20"/>
          <p:cNvSpPr txBox="1"/>
          <p:nvPr/>
        </p:nvSpPr>
        <p:spPr>
          <a:xfrm>
            <a:off x="2055916" y="5778751"/>
            <a:ext cx="2571750" cy="297180"/>
          </a:xfrm>
          <a:prstGeom prst="rect">
            <a:avLst/>
          </a:prstGeom>
        </p:spPr>
        <p:txBody>
          <a:bodyPr lIns="0" tIns="0" rIns="0" bIns="0" rtlCol="0" anchor="t">
            <a:spAutoFit/>
          </a:bodyPr>
          <a:lstStyle/>
          <a:p>
            <a:pPr algn="ctr">
              <a:lnSpc>
                <a:spcPts val="2519"/>
              </a:lnSpc>
              <a:spcBef>
                <a:spcPct val="0"/>
              </a:spcBef>
            </a:pPr>
            <a:r>
              <a:rPr lang="en-US" sz="1799" b="1">
                <a:solidFill>
                  <a:srgbClr val="1F2020"/>
                </a:solidFill>
                <a:latin typeface="Open Sans Bold"/>
                <a:ea typeface="Open Sans Bold"/>
                <a:cs typeface="Open Sans Bold"/>
                <a:sym typeface="Open Sans Bold"/>
              </a:rPr>
              <a:t>DUPLICATES</a:t>
            </a:r>
          </a:p>
        </p:txBody>
      </p:sp>
      <p:pic>
        <p:nvPicPr>
          <p:cNvPr id="21" name="Picture 21"/>
          <p:cNvPicPr>
            <a:picLocks noChangeAspect="1"/>
          </p:cNvPicPr>
          <p:nvPr/>
        </p:nvPicPr>
        <p:blipFill>
          <a:blip r:embed="rId6"/>
          <a:stretch>
            <a:fillRect/>
          </a:stretch>
        </p:blipFill>
        <p:spPr>
          <a:xfrm>
            <a:off x="5383053" y="3486717"/>
            <a:ext cx="3653755" cy="2131357"/>
          </a:xfrm>
          <a:prstGeom prst="rect">
            <a:avLst/>
          </a:prstGeom>
        </p:spPr>
      </p:pic>
      <p:sp>
        <p:nvSpPr>
          <p:cNvPr id="22" name="TextBox 22"/>
          <p:cNvSpPr txBox="1"/>
          <p:nvPr/>
        </p:nvSpPr>
        <p:spPr>
          <a:xfrm>
            <a:off x="5924055" y="5778751"/>
            <a:ext cx="2571750" cy="297180"/>
          </a:xfrm>
          <a:prstGeom prst="rect">
            <a:avLst/>
          </a:prstGeom>
        </p:spPr>
        <p:txBody>
          <a:bodyPr lIns="0" tIns="0" rIns="0" bIns="0" rtlCol="0" anchor="t">
            <a:spAutoFit/>
          </a:bodyPr>
          <a:lstStyle/>
          <a:p>
            <a:pPr algn="ctr">
              <a:lnSpc>
                <a:spcPts val="2519"/>
              </a:lnSpc>
              <a:spcBef>
                <a:spcPct val="0"/>
              </a:spcBef>
            </a:pPr>
            <a:r>
              <a:rPr lang="en-US" sz="1799" b="1">
                <a:solidFill>
                  <a:srgbClr val="1F2020"/>
                </a:solidFill>
                <a:latin typeface="Open Sans Bold"/>
                <a:ea typeface="Open Sans Bold"/>
                <a:cs typeface="Open Sans Bold"/>
                <a:sym typeface="Open Sans Bold"/>
              </a:rPr>
              <a:t>ERROR</a:t>
            </a:r>
          </a:p>
        </p:txBody>
      </p:sp>
      <p:pic>
        <p:nvPicPr>
          <p:cNvPr id="23" name="Picture 23"/>
          <p:cNvPicPr>
            <a:picLocks noChangeAspect="1"/>
          </p:cNvPicPr>
          <p:nvPr/>
        </p:nvPicPr>
        <p:blipFill>
          <a:blip r:embed="rId7"/>
          <a:stretch>
            <a:fillRect/>
          </a:stretch>
        </p:blipFill>
        <p:spPr>
          <a:xfrm>
            <a:off x="13119331" y="3486717"/>
            <a:ext cx="3653755" cy="2131357"/>
          </a:xfrm>
          <a:prstGeom prst="rect">
            <a:avLst/>
          </a:prstGeom>
        </p:spPr>
      </p:pic>
      <p:sp>
        <p:nvSpPr>
          <p:cNvPr id="24" name="TextBox 24"/>
          <p:cNvSpPr txBox="1"/>
          <p:nvPr/>
        </p:nvSpPr>
        <p:spPr>
          <a:xfrm>
            <a:off x="9822583" y="5644448"/>
            <a:ext cx="2571750" cy="297180"/>
          </a:xfrm>
          <a:prstGeom prst="rect">
            <a:avLst/>
          </a:prstGeom>
        </p:spPr>
        <p:txBody>
          <a:bodyPr lIns="0" tIns="0" rIns="0" bIns="0" rtlCol="0" anchor="t">
            <a:spAutoFit/>
          </a:bodyPr>
          <a:lstStyle/>
          <a:p>
            <a:pPr algn="ctr">
              <a:lnSpc>
                <a:spcPts val="2519"/>
              </a:lnSpc>
              <a:spcBef>
                <a:spcPct val="0"/>
              </a:spcBef>
            </a:pPr>
            <a:r>
              <a:rPr lang="en-US" sz="1799" b="1">
                <a:solidFill>
                  <a:srgbClr val="1F2020"/>
                </a:solidFill>
                <a:latin typeface="Open Sans Bold"/>
                <a:ea typeface="Open Sans Bold"/>
                <a:cs typeface="Open Sans Bold"/>
                <a:sym typeface="Open Sans Bold"/>
              </a:rPr>
              <a:t>RECOVERED/ FIXED</a:t>
            </a:r>
          </a:p>
        </p:txBody>
      </p:sp>
      <p:grpSp>
        <p:nvGrpSpPr>
          <p:cNvPr id="25" name="Group 25"/>
          <p:cNvGrpSpPr/>
          <p:nvPr/>
        </p:nvGrpSpPr>
        <p:grpSpPr>
          <a:xfrm>
            <a:off x="1295400" y="2400300"/>
            <a:ext cx="1042538" cy="47625"/>
            <a:chOff x="0" y="0"/>
            <a:chExt cx="274578" cy="12543"/>
          </a:xfrm>
        </p:grpSpPr>
        <p:sp>
          <p:nvSpPr>
            <p:cNvPr id="26" name="Freeform 26"/>
            <p:cNvSpPr/>
            <p:nvPr/>
          </p:nvSpPr>
          <p:spPr>
            <a:xfrm>
              <a:off x="0" y="0"/>
              <a:ext cx="274578" cy="12543"/>
            </a:xfrm>
            <a:custGeom>
              <a:avLst/>
              <a:gdLst/>
              <a:ahLst/>
              <a:cxnLst/>
              <a:rect l="l" t="t" r="r" b="b"/>
              <a:pathLst>
                <a:path w="274578" h="12543">
                  <a:moveTo>
                    <a:pt x="6272" y="0"/>
                  </a:moveTo>
                  <a:lnTo>
                    <a:pt x="268306" y="0"/>
                  </a:lnTo>
                  <a:cubicBezTo>
                    <a:pt x="269970" y="0"/>
                    <a:pt x="271565" y="661"/>
                    <a:pt x="272741" y="1837"/>
                  </a:cubicBezTo>
                  <a:cubicBezTo>
                    <a:pt x="273917" y="3013"/>
                    <a:pt x="274578" y="4608"/>
                    <a:pt x="274578" y="6272"/>
                  </a:cubicBezTo>
                  <a:lnTo>
                    <a:pt x="274578" y="6272"/>
                  </a:lnTo>
                  <a:cubicBezTo>
                    <a:pt x="274578" y="7935"/>
                    <a:pt x="273917" y="9530"/>
                    <a:pt x="272741" y="10706"/>
                  </a:cubicBezTo>
                  <a:cubicBezTo>
                    <a:pt x="271565" y="11882"/>
                    <a:pt x="269970" y="12543"/>
                    <a:pt x="268306"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FF7300"/>
            </a:solidFill>
          </p:spPr>
        </p:sp>
        <p:sp>
          <p:nvSpPr>
            <p:cNvPr id="27" name="TextBox 27"/>
            <p:cNvSpPr txBox="1"/>
            <p:nvPr/>
          </p:nvSpPr>
          <p:spPr>
            <a:xfrm>
              <a:off x="0" y="-38100"/>
              <a:ext cx="274578" cy="50643"/>
            </a:xfrm>
            <a:prstGeom prst="rect">
              <a:avLst/>
            </a:prstGeom>
          </p:spPr>
          <p:txBody>
            <a:bodyPr lIns="50800" tIns="50800" rIns="50800" bIns="50800" rtlCol="0" anchor="ctr"/>
            <a:lstStyle/>
            <a:p>
              <a:pPr algn="ctr">
                <a:lnSpc>
                  <a:spcPts val="2659"/>
                </a:lnSpc>
              </a:pPr>
              <a:endParaRPr/>
            </a:p>
          </p:txBody>
        </p:sp>
      </p:grpSp>
      <p:sp>
        <p:nvSpPr>
          <p:cNvPr id="28" name="TextBox 28"/>
          <p:cNvSpPr txBox="1"/>
          <p:nvPr/>
        </p:nvSpPr>
        <p:spPr>
          <a:xfrm>
            <a:off x="838200" y="1790700"/>
            <a:ext cx="3928916" cy="731752"/>
          </a:xfrm>
          <a:prstGeom prst="rect">
            <a:avLst/>
          </a:prstGeom>
        </p:spPr>
        <p:txBody>
          <a:bodyPr lIns="0" tIns="0" rIns="0" bIns="0" rtlCol="0" anchor="t">
            <a:spAutoFit/>
          </a:bodyPr>
          <a:lstStyle/>
          <a:p>
            <a:pPr algn="ctr">
              <a:lnSpc>
                <a:spcPts val="5336"/>
              </a:lnSpc>
            </a:pPr>
            <a:r>
              <a:rPr lang="en-US" sz="4560" b="1" dirty="0">
                <a:solidFill>
                  <a:srgbClr val="1F2020"/>
                </a:solidFill>
                <a:latin typeface="Poppins Bold"/>
                <a:ea typeface="Poppins Bold"/>
                <a:cs typeface="Poppins Bold"/>
                <a:sym typeface="Poppins Bold"/>
              </a:rPr>
              <a:t>SUMMARY</a:t>
            </a:r>
          </a:p>
        </p:txBody>
      </p:sp>
      <p:sp>
        <p:nvSpPr>
          <p:cNvPr id="29" name="TextBox 29"/>
          <p:cNvSpPr txBox="1"/>
          <p:nvPr/>
        </p:nvSpPr>
        <p:spPr>
          <a:xfrm>
            <a:off x="2055916" y="6761731"/>
            <a:ext cx="14145253" cy="1957331"/>
          </a:xfrm>
          <a:prstGeom prst="rect">
            <a:avLst/>
          </a:prstGeom>
        </p:spPr>
        <p:txBody>
          <a:bodyPr lIns="0" tIns="0" rIns="0" bIns="0" rtlCol="0" anchor="t">
            <a:spAutoFit/>
          </a:bodyPr>
          <a:lstStyle/>
          <a:p>
            <a:pPr marL="345439" lvl="1" indent="-172720" algn="l">
              <a:lnSpc>
                <a:spcPts val="2239"/>
              </a:lnSpc>
              <a:buAutoNum type="arabicPeriod"/>
            </a:pPr>
            <a:r>
              <a:rPr lang="en-US" sz="1599" b="1" dirty="0">
                <a:solidFill>
                  <a:srgbClr val="FF7300"/>
                </a:solidFill>
                <a:latin typeface="Open Sans Bold"/>
                <a:ea typeface="Open Sans Bold"/>
                <a:cs typeface="Open Sans Bold"/>
                <a:sym typeface="Open Sans Bold"/>
              </a:rPr>
              <a:t>Data Cleansing: </a:t>
            </a:r>
            <a:r>
              <a:rPr lang="en-US" sz="1599" dirty="0">
                <a:solidFill>
                  <a:srgbClr val="1F2020"/>
                </a:solidFill>
                <a:latin typeface="Open Sans"/>
                <a:ea typeface="Open Sans"/>
                <a:cs typeface="Open Sans"/>
                <a:sym typeface="Open Sans"/>
              </a:rPr>
              <a:t>We’ve successfully identified and addressed 3% duplicate entries and 1% errors in the sales data, ensuring a cleaner dataset.</a:t>
            </a:r>
          </a:p>
          <a:p>
            <a:pPr marL="345439" lvl="1" indent="-172720" algn="l">
              <a:lnSpc>
                <a:spcPts val="2239"/>
              </a:lnSpc>
              <a:buAutoNum type="arabicPeriod"/>
            </a:pPr>
            <a:r>
              <a:rPr lang="en-US" sz="1599" b="1" dirty="0">
                <a:solidFill>
                  <a:srgbClr val="FF7300"/>
                </a:solidFill>
                <a:latin typeface="Open Sans Bold"/>
                <a:ea typeface="Open Sans Bold"/>
                <a:cs typeface="Open Sans Bold"/>
                <a:sym typeface="Open Sans Bold"/>
              </a:rPr>
              <a:t>Data Recovery and Sanitization:</a:t>
            </a:r>
            <a:r>
              <a:rPr lang="en-US" sz="1599" dirty="0">
                <a:solidFill>
                  <a:srgbClr val="1F2020"/>
                </a:solidFill>
                <a:latin typeface="Open Sans"/>
                <a:ea typeface="Open Sans"/>
                <a:cs typeface="Open Sans"/>
                <a:sym typeface="Open Sans"/>
              </a:rPr>
              <a:t> With 99% of data issues recovered/fixed and 100% of the data sanitized, we've ensured high data quality and integrity, making it reliable for accurate analysis and reporting. This reflects a thorough and effective data validation and cleansing process on the basis of our understanding.</a:t>
            </a:r>
          </a:p>
          <a:p>
            <a:pPr algn="l">
              <a:lnSpc>
                <a:spcPts val="2239"/>
              </a:lnSpc>
            </a:pPr>
            <a:endParaRPr lang="en-US" sz="1599" dirty="0">
              <a:solidFill>
                <a:srgbClr val="1F2020"/>
              </a:solidFill>
              <a:latin typeface="Open Sans"/>
              <a:ea typeface="Open Sans"/>
              <a:cs typeface="Open Sans"/>
              <a:sym typeface="Open Sans"/>
            </a:endParaRPr>
          </a:p>
          <a:p>
            <a:pPr algn="l">
              <a:lnSpc>
                <a:spcPts val="2239"/>
              </a:lnSpc>
            </a:pPr>
            <a:endParaRPr lang="en-US" sz="1599" dirty="0">
              <a:solidFill>
                <a:srgbClr val="1F2020"/>
              </a:solidFill>
              <a:latin typeface="Open Sans"/>
              <a:ea typeface="Open Sans"/>
              <a:cs typeface="Open Sans"/>
              <a:sym typeface="Open Sans"/>
            </a:endParaRPr>
          </a:p>
          <a:p>
            <a:pPr algn="l">
              <a:lnSpc>
                <a:spcPts val="2239"/>
              </a:lnSpc>
              <a:spcBef>
                <a:spcPct val="0"/>
              </a:spcBef>
            </a:pPr>
            <a:endParaRPr lang="en-US" sz="1599" dirty="0">
              <a:solidFill>
                <a:srgbClr val="1F2020"/>
              </a:solidFill>
              <a:latin typeface="Open Sans"/>
              <a:ea typeface="Open Sans"/>
              <a:cs typeface="Open Sans"/>
              <a:sym typeface="Open Sans"/>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grpSp>
        <p:nvGrpSpPr>
          <p:cNvPr id="3" name="Group 3"/>
          <p:cNvGrpSpPr/>
          <p:nvPr/>
        </p:nvGrpSpPr>
        <p:grpSpPr>
          <a:xfrm>
            <a:off x="17293116" y="565634"/>
            <a:ext cx="397367" cy="28996"/>
            <a:chOff x="0" y="0"/>
            <a:chExt cx="128243" cy="9358"/>
          </a:xfrm>
        </p:grpSpPr>
        <p:sp>
          <p:nvSpPr>
            <p:cNvPr id="4" name="Freeform 4"/>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solidFill>
              <a:srgbClr val="FF7300"/>
            </a:solidFill>
          </p:spPr>
        </p:sp>
        <p:sp>
          <p:nvSpPr>
            <p:cNvPr id="5" name="TextBox 5"/>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7293116" y="657737"/>
            <a:ext cx="397367" cy="28996"/>
            <a:chOff x="0" y="0"/>
            <a:chExt cx="128243" cy="9358"/>
          </a:xfrm>
        </p:grpSpPr>
        <p:sp>
          <p:nvSpPr>
            <p:cNvPr id="7" name="Freeform 7"/>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solidFill>
              <a:srgbClr val="FF7300"/>
            </a:solidFill>
          </p:spPr>
        </p:sp>
        <p:sp>
          <p:nvSpPr>
            <p:cNvPr id="8" name="TextBox 8"/>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673429" y="486649"/>
            <a:ext cx="274427" cy="260019"/>
          </a:xfrm>
          <a:custGeom>
            <a:avLst/>
            <a:gdLst/>
            <a:ahLst/>
            <a:cxnLst/>
            <a:rect l="l" t="t" r="r" b="b"/>
            <a:pathLst>
              <a:path w="274427" h="260019">
                <a:moveTo>
                  <a:pt x="0" y="0"/>
                </a:moveTo>
                <a:lnTo>
                  <a:pt x="274427" y="0"/>
                </a:lnTo>
                <a:lnTo>
                  <a:pt x="274427" y="260020"/>
                </a:lnTo>
                <a:lnTo>
                  <a:pt x="0" y="26002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0" name="Group 10"/>
          <p:cNvGrpSpPr/>
          <p:nvPr/>
        </p:nvGrpSpPr>
        <p:grpSpPr>
          <a:xfrm>
            <a:off x="18177932" y="8597752"/>
            <a:ext cx="110068" cy="660548"/>
            <a:chOff x="0" y="0"/>
            <a:chExt cx="28989" cy="173972"/>
          </a:xfrm>
        </p:grpSpPr>
        <p:sp>
          <p:nvSpPr>
            <p:cNvPr id="11" name="Freeform 11"/>
            <p:cNvSpPr/>
            <p:nvPr/>
          </p:nvSpPr>
          <p:spPr>
            <a:xfrm>
              <a:off x="0" y="0"/>
              <a:ext cx="28989" cy="173972"/>
            </a:xfrm>
            <a:custGeom>
              <a:avLst/>
              <a:gdLst/>
              <a:ahLst/>
              <a:cxnLst/>
              <a:rect l="l" t="t" r="r" b="b"/>
              <a:pathLst>
                <a:path w="28989" h="173972">
                  <a:moveTo>
                    <a:pt x="0" y="0"/>
                  </a:moveTo>
                  <a:lnTo>
                    <a:pt x="28989" y="0"/>
                  </a:lnTo>
                  <a:lnTo>
                    <a:pt x="28989" y="173972"/>
                  </a:lnTo>
                  <a:lnTo>
                    <a:pt x="0" y="173972"/>
                  </a:lnTo>
                  <a:close/>
                </a:path>
              </a:pathLst>
            </a:custGeom>
            <a:solidFill>
              <a:srgbClr val="FF7300"/>
            </a:solidFill>
          </p:spPr>
        </p:sp>
        <p:sp>
          <p:nvSpPr>
            <p:cNvPr id="12" name="TextBox 12"/>
            <p:cNvSpPr txBox="1"/>
            <p:nvPr/>
          </p:nvSpPr>
          <p:spPr>
            <a:xfrm>
              <a:off x="0" y="-38100"/>
              <a:ext cx="28989" cy="212072"/>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2842458" y="3600450"/>
            <a:ext cx="12603085" cy="3086100"/>
            <a:chOff x="0" y="0"/>
            <a:chExt cx="3319331" cy="812800"/>
          </a:xfrm>
        </p:grpSpPr>
        <p:sp>
          <p:nvSpPr>
            <p:cNvPr id="14" name="Freeform 14"/>
            <p:cNvSpPr/>
            <p:nvPr/>
          </p:nvSpPr>
          <p:spPr>
            <a:xfrm>
              <a:off x="0" y="0"/>
              <a:ext cx="3319331" cy="812800"/>
            </a:xfrm>
            <a:custGeom>
              <a:avLst/>
              <a:gdLst/>
              <a:ahLst/>
              <a:cxnLst/>
              <a:rect l="l" t="t" r="r" b="b"/>
              <a:pathLst>
                <a:path w="3319331" h="812800">
                  <a:moveTo>
                    <a:pt x="0" y="0"/>
                  </a:moveTo>
                  <a:lnTo>
                    <a:pt x="3319331" y="0"/>
                  </a:lnTo>
                  <a:lnTo>
                    <a:pt x="3319331" y="812800"/>
                  </a:lnTo>
                  <a:lnTo>
                    <a:pt x="0" y="812800"/>
                  </a:lnTo>
                  <a:close/>
                </a:path>
              </a:pathLst>
            </a:custGeom>
            <a:solidFill>
              <a:srgbClr val="000000">
                <a:alpha val="0"/>
              </a:srgbClr>
            </a:solidFill>
            <a:ln w="38100" cap="sq">
              <a:solidFill>
                <a:srgbClr val="FF7300"/>
              </a:solidFill>
              <a:prstDash val="solid"/>
              <a:miter/>
            </a:ln>
          </p:spPr>
        </p:sp>
        <p:sp>
          <p:nvSpPr>
            <p:cNvPr id="15" name="TextBox 15"/>
            <p:cNvSpPr txBox="1"/>
            <p:nvPr/>
          </p:nvSpPr>
          <p:spPr>
            <a:xfrm>
              <a:off x="0" y="-38100"/>
              <a:ext cx="3319331" cy="850900"/>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1039108" y="508149"/>
            <a:ext cx="1547756" cy="240665"/>
          </a:xfrm>
          <a:prstGeom prst="rect">
            <a:avLst/>
          </a:prstGeom>
        </p:spPr>
        <p:txBody>
          <a:bodyPr lIns="0" tIns="0" rIns="0" bIns="0" rtlCol="0" anchor="t">
            <a:spAutoFit/>
          </a:bodyPr>
          <a:lstStyle/>
          <a:p>
            <a:pPr algn="l">
              <a:lnSpc>
                <a:spcPts val="1960"/>
              </a:lnSpc>
              <a:spcBef>
                <a:spcPct val="0"/>
              </a:spcBef>
            </a:pPr>
            <a:r>
              <a:rPr lang="en-US" sz="1400">
                <a:solidFill>
                  <a:srgbClr val="FFFFFF"/>
                </a:solidFill>
                <a:latin typeface="Open Sans"/>
                <a:ea typeface="Open Sans"/>
                <a:cs typeface="Open Sans"/>
                <a:sym typeface="Open Sans"/>
              </a:rPr>
              <a:t>Group B</a:t>
            </a:r>
          </a:p>
        </p:txBody>
      </p:sp>
      <p:sp>
        <p:nvSpPr>
          <p:cNvPr id="17" name="TextBox 17"/>
          <p:cNvSpPr txBox="1"/>
          <p:nvPr/>
        </p:nvSpPr>
        <p:spPr>
          <a:xfrm>
            <a:off x="15940842" y="517674"/>
            <a:ext cx="978460"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id="18" name="TextBox 18"/>
          <p:cNvSpPr txBox="1"/>
          <p:nvPr/>
        </p:nvSpPr>
        <p:spPr>
          <a:xfrm>
            <a:off x="14385046" y="517674"/>
            <a:ext cx="1060497"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id="19" name="TextBox 19"/>
          <p:cNvSpPr txBox="1"/>
          <p:nvPr/>
        </p:nvSpPr>
        <p:spPr>
          <a:xfrm>
            <a:off x="13154289" y="517674"/>
            <a:ext cx="735456"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Photo</a:t>
            </a:r>
          </a:p>
        </p:txBody>
      </p:sp>
      <p:sp>
        <p:nvSpPr>
          <p:cNvPr id="20" name="TextBox 20"/>
          <p:cNvSpPr txBox="1"/>
          <p:nvPr/>
        </p:nvSpPr>
        <p:spPr>
          <a:xfrm>
            <a:off x="11898530" y="517674"/>
            <a:ext cx="809760"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id="21" name="TextBox 21"/>
          <p:cNvSpPr txBox="1"/>
          <p:nvPr/>
        </p:nvSpPr>
        <p:spPr>
          <a:xfrm>
            <a:off x="2951520" y="3854101"/>
            <a:ext cx="12384959" cy="2321623"/>
          </a:xfrm>
          <a:prstGeom prst="rect">
            <a:avLst/>
          </a:prstGeom>
        </p:spPr>
        <p:txBody>
          <a:bodyPr lIns="0" tIns="0" rIns="0" bIns="0" rtlCol="0" anchor="t">
            <a:spAutoFit/>
          </a:bodyPr>
          <a:lstStyle/>
          <a:p>
            <a:pPr algn="ctr">
              <a:lnSpc>
                <a:spcPts val="19032"/>
              </a:lnSpc>
              <a:spcBef>
                <a:spcPct val="0"/>
              </a:spcBef>
            </a:pPr>
            <a:r>
              <a:rPr lang="en-US" sz="13594" b="1">
                <a:solidFill>
                  <a:srgbClr val="FFFFFF"/>
                </a:solidFill>
                <a:latin typeface="Montserrat Bold"/>
                <a:ea typeface="Montserrat Bold"/>
                <a:cs typeface="Montserrat Bold"/>
                <a:sym typeface="Montserrat Bold"/>
              </a:rPr>
              <a:t>THANK YOU</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756</Words>
  <Application>Microsoft Office PowerPoint</Application>
  <PresentationFormat>Custom</PresentationFormat>
  <Paragraphs>88</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Open Sans</vt:lpstr>
      <vt:lpstr>Open Sans Bold</vt:lpstr>
      <vt:lpstr>Poppins Bold</vt:lpstr>
      <vt:lpstr>Arial</vt:lpstr>
      <vt:lpstr>Calibri</vt:lpstr>
      <vt:lpstr>Montserrat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Data</dc:title>
  <cp:lastModifiedBy>Adhish Pillai</cp:lastModifiedBy>
  <cp:revision>3</cp:revision>
  <dcterms:created xsi:type="dcterms:W3CDTF">2006-08-16T00:00:00Z</dcterms:created>
  <dcterms:modified xsi:type="dcterms:W3CDTF">2024-11-07T11:12:00Z</dcterms:modified>
  <dc:identifier>DAGVmwxHgE8</dc:identifier>
</cp:coreProperties>
</file>